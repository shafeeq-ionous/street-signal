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1695" cy="6858000"/>
  <p:notesSz cx="6858000" cy="12191695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000" b="1" i="0" dirty="0">
                <a:solidFill>
                  <a:srgbClr val="37A2F0"/>
                </a:solidFill>
                <a:latin typeface="Courier New"/>
              </a:rPr>
              <a:t>BOSTON · 311 OPEN DATA · 2025</a:t>
            </a:r>
          </a:p>
        </p:txBody>
      </p:sp>
      <p:sp>
        <p:nvSpPr>
          <p:cNvPr id="3" name="tb3"/>
          <p:cNvSpPr txBox="1"/>
          <p:nvPr/>
        </p:nvSpPr>
        <p:spPr>
          <a:xfrm>
            <a:off x="566928" y="2286000"/>
            <a:ext cx="11057839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95000"/>
              </a:lnSpc>
            </a:pPr>
            <a:r>
              <a:rPr lang="en-US" sz="6000" b="1" i="0" dirty="0">
                <a:solidFill>
                  <a:srgbClr val="EAF2F7"/>
                </a:solidFill>
                <a:latin typeface="Arial Black"/>
              </a:rPr>
              <a:t>STREET </a:t>
            </a:r>
            <a:r>
              <a:rPr lang="en-US" sz="6000" b="1" i="0" dirty="0">
                <a:solidFill>
                  <a:srgbClr val="E0574A"/>
                </a:solidFill>
                <a:latin typeface="Arial Black"/>
              </a:rPr>
              <a:t>SIGNAL</a:t>
            </a:r>
          </a:p>
        </p:txBody>
      </p:sp>
      <p:sp>
        <p:nvSpPr>
          <p:cNvPr id="4" name="r4"/>
          <p:cNvSpPr/>
          <p:nvPr/>
        </p:nvSpPr>
        <p:spPr>
          <a:xfrm>
            <a:off x="566928" y="3794760"/>
            <a:ext cx="1371600" cy="38100"/>
          </a:xfrm>
          <a:prstGeom prst="rect">
            <a:avLst/>
          </a:prstGeom>
          <a:solidFill>
            <a:srgbClr val="E0574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566928" y="4114800"/>
            <a:ext cx="786384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500" b="0" i="0" dirty="0">
                <a:solidFill>
                  <a:srgbClr val="A8BFCE"/>
                </a:solidFill>
                <a:latin typeface="Arial"/>
              </a:rPr>
              <a:t>A resident asks whether their street is being ignored, and gets a straight answer from the city's own records — in one sentence, with receipts.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900" b="0" i="0" dirty="0">
                <a:solidFill>
                  <a:srgbClr val="6E8899"/>
                </a:solidFill>
                <a:latin typeface="Courier New"/>
              </a:rPr>
              <a:t>01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000" b="1" i="0" dirty="0">
                <a:solidFill>
                  <a:srgbClr val="37A2F0"/>
                </a:solidFill>
                <a:latin typeface="Courier New"/>
              </a:rPr>
              <a:t>THE PROBLEM</a:t>
            </a:r>
          </a:p>
        </p:txBody>
      </p:sp>
      <p:sp>
        <p:nvSpPr>
          <p:cNvPr id="3" name="tb3"/>
          <p:cNvSpPr txBox="1"/>
          <p:nvPr/>
        </p:nvSpPr>
        <p:spPr>
          <a:xfrm>
            <a:off x="566928" y="868680"/>
            <a:ext cx="11057839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95000"/>
              </a:lnSpc>
            </a:pPr>
            <a:r>
              <a:rPr lang="en-US" sz="3000" b="1" i="0" dirty="0">
                <a:solidFill>
                  <a:srgbClr val="EAF2F7"/>
                </a:solidFill>
                <a:latin typeface="Arial Black"/>
              </a:rPr>
              <a:t>"Is it just me, or is my street being ignored?"</a:t>
            </a:r>
          </a:p>
        </p:txBody>
      </p:sp>
      <p:sp>
        <p:nvSpPr>
          <p:cNvPr id="4" name="tb4"/>
          <p:cNvSpPr txBox="1"/>
          <p:nvPr/>
        </p:nvSpPr>
        <p:spPr>
          <a:xfrm>
            <a:off x="566928" y="2926080"/>
            <a:ext cx="512064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100" b="0" i="0" dirty="0">
                <a:solidFill>
                  <a:srgbClr val="6E8899"/>
                </a:solidFill>
                <a:latin typeface="Courier New"/>
              </a:rPr>
              <a:t>— the question nobody can answer today</a:t>
            </a:r>
          </a:p>
        </p:txBody>
      </p:sp>
      <p:sp>
        <p:nvSpPr>
          <p:cNvPr id="5" name="tb5"/>
          <p:cNvSpPr txBox="1"/>
          <p:nvPr/>
        </p:nvSpPr>
        <p:spPr>
          <a:xfrm>
            <a:off x="6144768" y="2286000"/>
            <a:ext cx="5486400" cy="3657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400" b="0" i="0" dirty="0">
                <a:solidFill>
                  <a:srgbClr val="A8BFCE"/>
                </a:solidFill>
                <a:latin typeface="Arial"/>
              </a:rPr>
              <a:t>You report the rats. Weeks later an email says </a:t>
            </a:r>
            <a:r>
              <a:rPr lang="en-US" sz="1400" b="1" i="0" dirty="0">
                <a:solidFill>
                  <a:srgbClr val="EAF2F7"/>
                </a:solidFill>
                <a:latin typeface="Arial"/>
              </a:rPr>
              <a:t>Closed</a:t>
            </a:r>
            <a:r>
              <a:rPr lang="en-US" sz="1400" b="0" i="0" dirty="0">
                <a:solidFill>
                  <a:srgbClr val="A8BFCE"/>
                </a:solidFill>
                <a:latin typeface="Arial"/>
              </a:rPr>
              <a:t>. Nothing has changed.</a:t>
            </a:r>
          </a:p>
          <a:p>
            <a:endParaRPr lang="en-US" sz="800"/>
          </a:p>
          <a:p>
            <a:pPr>
              <a:lnSpc>
                <a:spcPct val="125000"/>
              </a:lnSpc>
            </a:pPr>
            <a:r>
              <a:rPr lang="en-US" sz="1250" b="0" i="0" dirty="0">
                <a:solidFill>
                  <a:srgbClr val="A8BFCE"/>
                </a:solidFill>
                <a:latin typeface="Arial"/>
              </a:rPr>
              <a:t>Two doubts follow, and both land as self-blame: is this normal for a city, and did anything actually happen?</a:t>
            </a:r>
          </a:p>
          <a:p>
            <a:endParaRPr lang="en-US" sz="800"/>
          </a:p>
          <a:p>
            <a:pPr>
              <a:lnSpc>
                <a:spcPct val="125000"/>
              </a:lnSpc>
            </a:pPr>
            <a:r>
              <a:rPr lang="en-US" sz="1250" b="1" i="0" dirty="0">
                <a:solidFill>
                  <a:srgbClr val="EAF2F7"/>
                </a:solidFill>
                <a:latin typeface="Arial"/>
              </a:rPr>
              <a:t>You are the only party in the transaction operating blind — and you are the one it is happening to.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900" b="0" i="0" dirty="0">
                <a:solidFill>
                  <a:srgbClr val="6E8899"/>
                </a:solidFill>
                <a:latin typeface="Courier New"/>
              </a:rPr>
              <a:t>02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000" b="1" i="0" dirty="0">
                <a:solidFill>
                  <a:srgbClr val="37A2F0"/>
                </a:solidFill>
                <a:latin typeface="Courier New"/>
              </a:rPr>
              <a:t>THE DOUBT IS WELL FOUNDED</a:t>
            </a:r>
          </a:p>
        </p:txBody>
      </p:sp>
      <p:sp>
        <p:nvSpPr>
          <p:cNvPr id="3" name="tb3"/>
          <p:cNvSpPr txBox="1"/>
          <p:nvPr/>
        </p:nvSpPr>
        <p:spPr>
          <a:xfrm>
            <a:off x="566928" y="1051560"/>
            <a:ext cx="3840480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6600" b="1" i="0" dirty="0">
                <a:solidFill>
                  <a:srgbClr val="E0574A"/>
                </a:solidFill>
                <a:latin typeface="Arial Black"/>
              </a:rPr>
              <a:t>58,005</a:t>
            </a:r>
          </a:p>
        </p:txBody>
      </p:sp>
      <p:sp>
        <p:nvSpPr>
          <p:cNvPr id="4" name="tb4"/>
          <p:cNvSpPr txBox="1"/>
          <p:nvPr/>
        </p:nvSpPr>
        <p:spPr>
          <a:xfrm>
            <a:off x="4590288" y="1371600"/>
            <a:ext cx="502920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000" b="0" i="0" dirty="0">
                <a:solidFill>
                  <a:srgbClr val="A8BFCE"/>
                </a:solidFill>
                <a:latin typeface="Courier New"/>
              </a:rPr>
              <a:t>CASES BOSTON CLOSED IN 2025 AS</a:t>
            </a:r>
          </a:p>
          <a:p>
            <a:pPr>
              <a:lnSpc>
                <a:spcPct val="125000"/>
              </a:lnSpc>
            </a:pPr>
            <a:r>
              <a:rPr lang="en-US" sz="1200" b="1" i="0" dirty="0">
                <a:solidFill>
                  <a:srgbClr val="E0574A"/>
                </a:solidFill>
                <a:latin typeface="Courier New"/>
              </a:rPr>
              <a:t>"NOTED ONLY"</a:t>
            </a:r>
          </a:p>
          <a:p>
            <a:pPr>
              <a:lnSpc>
                <a:spcPct val="125000"/>
              </a:lnSpc>
            </a:pPr>
            <a:r>
              <a:rPr lang="en-US" sz="1000" b="0" i="0" dirty="0">
                <a:solidFill>
                  <a:srgbClr val="A8BFCE"/>
                </a:solidFill>
                <a:latin typeface="Courier New"/>
              </a:rPr>
              <a:t>— recorded, with no fix logged</a:t>
            </a:r>
          </a:p>
        </p:txBody>
      </p:sp>
      <p:sp>
        <p:nvSpPr>
          <p:cNvPr id="5" name="tb5"/>
          <p:cNvSpPr txBox="1"/>
          <p:nvPr/>
        </p:nvSpPr>
        <p:spPr>
          <a:xfrm>
            <a:off x="566928" y="2834640"/>
            <a:ext cx="9601200" cy="10058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500" b="0" i="0" dirty="0">
                <a:solidFill>
                  <a:srgbClr val="EAF2F7"/>
                </a:solidFill>
                <a:latin typeface="Arial"/>
              </a:rPr>
              <a:t>That is the recorded moment a person was managed rather than helped. It sits in a public file, and no resident has ever been shown it.</a:t>
            </a:r>
          </a:p>
        </p:txBody>
      </p:sp>
      <p:sp>
        <p:nvSpPr>
          <p:cNvPr id="6" name="r6"/>
          <p:cNvSpPr/>
          <p:nvPr/>
        </p:nvSpPr>
        <p:spPr>
          <a:xfrm>
            <a:off x="566928" y="4206240"/>
            <a:ext cx="2613583" cy="1371600"/>
          </a:xfrm>
          <a:prstGeom prst="rect">
            <a:avLst/>
          </a:prstGeom>
          <a:solidFill>
            <a:srgbClr val="0D2432"/>
          </a:solidFill>
          <a:ln w="12700">
            <a:solidFill>
              <a:srgbClr val="1B4056"/>
            </a:solidFill>
          </a:ln>
        </p:spPr>
        <p:txBody>
          <a:bodyPr/>
          <a:lstStyle/>
          <a:p/>
        </p:txBody>
      </p:sp>
      <p:sp>
        <p:nvSpPr>
          <p:cNvPr id="7" name="tb7"/>
          <p:cNvSpPr txBox="1"/>
          <p:nvPr/>
        </p:nvSpPr>
        <p:spPr>
          <a:xfrm>
            <a:off x="731520" y="4343400"/>
            <a:ext cx="2613583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2600" b="1" i="0" dirty="0">
                <a:solidFill>
                  <a:srgbClr val="E0574A"/>
                </a:solidFill>
                <a:latin typeface="Arial Black"/>
              </a:rPr>
              <a:t>31.8%</a:t>
            </a:r>
          </a:p>
        </p:txBody>
      </p:sp>
      <p:sp>
        <p:nvSpPr>
          <p:cNvPr id="8" name="tb8"/>
          <p:cNvSpPr txBox="1"/>
          <p:nvPr/>
        </p:nvSpPr>
        <p:spPr>
          <a:xfrm>
            <a:off x="731520" y="4983480"/>
            <a:ext cx="2339263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850" b="0" i="0" dirty="0">
                <a:solidFill>
                  <a:srgbClr val="6E8899"/>
                </a:solidFill>
                <a:latin typeface="Courier New"/>
              </a:rPr>
              <a:t>MISSED THE CITY'S OWN DEADLINE</a:t>
            </a:r>
          </a:p>
        </p:txBody>
      </p:sp>
      <p:sp>
        <p:nvSpPr>
          <p:cNvPr id="9" name="r9"/>
          <p:cNvSpPr/>
          <p:nvPr/>
        </p:nvSpPr>
        <p:spPr>
          <a:xfrm>
            <a:off x="3381679" y="4206240"/>
            <a:ext cx="2613583" cy="1371600"/>
          </a:xfrm>
          <a:prstGeom prst="rect">
            <a:avLst/>
          </a:prstGeom>
          <a:solidFill>
            <a:srgbClr val="0D2432"/>
          </a:solidFill>
          <a:ln w="12700">
            <a:solidFill>
              <a:srgbClr val="1B4056"/>
            </a:solidFill>
          </a:ln>
        </p:spPr>
        <p:txBody>
          <a:bodyPr/>
          <a:lstStyle/>
          <a:p/>
        </p:txBody>
      </p:sp>
      <p:sp>
        <p:nvSpPr>
          <p:cNvPr id="10" name="tb10"/>
          <p:cNvSpPr txBox="1"/>
          <p:nvPr/>
        </p:nvSpPr>
        <p:spPr>
          <a:xfrm>
            <a:off x="3546271" y="4343400"/>
            <a:ext cx="2613583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2600" b="1" i="0" dirty="0">
                <a:solidFill>
                  <a:srgbClr val="E0574A"/>
                </a:solidFill>
                <a:latin typeface="Arial Black"/>
              </a:rPr>
              <a:t>40.2%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3546271" y="4983480"/>
            <a:ext cx="2339263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850" b="0" i="0" dirty="0">
                <a:solidFill>
                  <a:srgbClr val="6E8899"/>
                </a:solidFill>
                <a:latin typeface="Courier New"/>
              </a:rPr>
              <a:t>OF VOLUME IS A REPEAT</a:t>
            </a:r>
          </a:p>
        </p:txBody>
      </p:sp>
      <p:sp>
        <p:nvSpPr>
          <p:cNvPr id="12" name="r12"/>
          <p:cNvSpPr/>
          <p:nvPr/>
        </p:nvSpPr>
        <p:spPr>
          <a:xfrm>
            <a:off x="6196430" y="4206240"/>
            <a:ext cx="2613583" cy="1371600"/>
          </a:xfrm>
          <a:prstGeom prst="rect">
            <a:avLst/>
          </a:prstGeom>
          <a:solidFill>
            <a:srgbClr val="0D2432"/>
          </a:solidFill>
          <a:ln w="12700">
            <a:solidFill>
              <a:srgbClr val="1B4056"/>
            </a:solidFill>
          </a:ln>
        </p:spPr>
        <p:txBody>
          <a:bodyPr/>
          <a:lstStyle/>
          <a:p/>
        </p:txBody>
      </p:sp>
      <p:sp>
        <p:nvSpPr>
          <p:cNvPr id="13" name="tb13"/>
          <p:cNvSpPr txBox="1"/>
          <p:nvPr/>
        </p:nvSpPr>
        <p:spPr>
          <a:xfrm>
            <a:off x="6361022" y="4343400"/>
            <a:ext cx="2613583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2600" b="1" i="0" dirty="0">
                <a:solidFill>
                  <a:srgbClr val="EAF2F7"/>
                </a:solidFill>
                <a:latin typeface="Arial Black"/>
              </a:rPr>
              <a:t>4.8h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6361022" y="4983480"/>
            <a:ext cx="2339263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850" b="0" i="0" dirty="0">
                <a:solidFill>
                  <a:srgbClr val="6E8899"/>
                </a:solidFill>
                <a:latin typeface="Courier New"/>
              </a:rPr>
              <a:t>MEDIAN CLOSE — THE FLATTERING NUMBER</a:t>
            </a:r>
          </a:p>
        </p:txBody>
      </p:sp>
      <p:sp>
        <p:nvSpPr>
          <p:cNvPr id="15" name="r15"/>
          <p:cNvSpPr/>
          <p:nvPr/>
        </p:nvSpPr>
        <p:spPr>
          <a:xfrm>
            <a:off x="9011181" y="4206240"/>
            <a:ext cx="2613583" cy="1371600"/>
          </a:xfrm>
          <a:prstGeom prst="rect">
            <a:avLst/>
          </a:prstGeom>
          <a:solidFill>
            <a:srgbClr val="0D2432"/>
          </a:solidFill>
          <a:ln w="12700">
            <a:solidFill>
              <a:srgbClr val="1B4056"/>
            </a:solidFill>
          </a:ln>
        </p:spPr>
        <p:txBody>
          <a:bodyPr/>
          <a:lstStyle/>
          <a:p/>
        </p:txBody>
      </p:sp>
      <p:sp>
        <p:nvSpPr>
          <p:cNvPr id="16" name="tb16"/>
          <p:cNvSpPr txBox="1"/>
          <p:nvPr/>
        </p:nvSpPr>
        <p:spPr>
          <a:xfrm>
            <a:off x="9175773" y="4343400"/>
            <a:ext cx="2613583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2600" b="1" i="0" dirty="0">
                <a:solidFill>
                  <a:srgbClr val="E0574A"/>
                </a:solidFill>
                <a:latin typeface="Arial Black"/>
              </a:rPr>
              <a:t>90.8d</a:t>
            </a:r>
          </a:p>
        </p:txBody>
      </p:sp>
      <p:sp>
        <p:nvSpPr>
          <p:cNvPr id="17" name="tb17"/>
          <p:cNvSpPr txBox="1"/>
          <p:nvPr/>
        </p:nvSpPr>
        <p:spPr>
          <a:xfrm>
            <a:off x="9175773" y="4983480"/>
            <a:ext cx="2339263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850" b="0" i="0" dirty="0">
                <a:solidFill>
                  <a:srgbClr val="6E8899"/>
                </a:solidFill>
                <a:latin typeface="Courier New"/>
              </a:rPr>
              <a:t>99TH PERCENTILE — WHERE PEOPLE LIVE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900" b="0" i="0" dirty="0">
                <a:solidFill>
                  <a:srgbClr val="6E8899"/>
                </a:solidFill>
                <a:latin typeface="Courier New"/>
              </a:rPr>
              <a:t>03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000" b="1" i="0" dirty="0">
                <a:solidFill>
                  <a:srgbClr val="37A2F0"/>
                </a:solidFill>
                <a:latin typeface="Courier New"/>
              </a:rPr>
              <a:t>WHY NOBODY HAS BUILT THIS</a:t>
            </a:r>
          </a:p>
        </p:txBody>
      </p:sp>
      <p:sp>
        <p:nvSpPr>
          <p:cNvPr id="3" name="tb3"/>
          <p:cNvSpPr txBox="1"/>
          <p:nvPr/>
        </p:nvSpPr>
        <p:spPr>
          <a:xfrm>
            <a:off x="566928" y="868680"/>
            <a:ext cx="11057839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95000"/>
              </a:lnSpc>
            </a:pPr>
            <a:r>
              <a:rPr lang="en-US" sz="3000" b="1" i="0" dirty="0">
                <a:solidFill>
                  <a:srgbClr val="EAF2F7"/>
                </a:solidFill>
                <a:latin typeface="Arial Black"/>
              </a:rPr>
              <a:t>THE DATA IS OPEN, AND ALMOST </a:t>
            </a:r>
            <a:r>
              <a:rPr lang="en-US" sz="3000" b="1" i="0" dirty="0">
                <a:solidFill>
                  <a:srgbClr val="E0574A"/>
                </a:solidFill>
                <a:latin typeface="Arial Black"/>
              </a:rPr>
              <a:t>UNUSABLE</a:t>
            </a:r>
          </a:p>
        </p:txBody>
      </p:sp>
      <p:sp>
        <p:nvSpPr>
          <p:cNvPr id="4" name="tb4"/>
          <p:cNvSpPr txBox="1"/>
          <p:nvPr/>
        </p:nvSpPr>
        <p:spPr>
          <a:xfrm>
            <a:off x="566928" y="2468880"/>
            <a:ext cx="5212080" cy="3108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500" b="1" i="0" dirty="0">
                <a:solidFill>
                  <a:srgbClr val="EAF2F7"/>
                </a:solidFill>
                <a:latin typeface="Arial"/>
              </a:rPr>
              <a:t>There is no prose in it.</a:t>
            </a:r>
          </a:p>
          <a:p>
            <a:endParaRPr lang="en-US" sz="800"/>
          </a:p>
          <a:p>
            <a:pPr>
              <a:lnSpc>
                <a:spcPct val="125000"/>
              </a:lnSpc>
            </a:pPr>
            <a:r>
              <a:rPr lang="en-US" sz="1250" b="0" i="0" dirty="0">
                <a:solidFill>
                  <a:srgbClr val="A8BFCE"/>
                </a:solidFill>
                <a:latin typeface="Arial"/>
              </a:rPr>
              <a:t>267,187 rows carry no description field — only short category codes. 2,982 titles exist, but the top thirty cover 84.9% of every row, and one is 60,641 identical strings.</a:t>
            </a:r>
          </a:p>
          <a:p>
            <a:endParaRPr lang="en-US" sz="800"/>
          </a:p>
          <a:p>
            <a:pPr>
              <a:lnSpc>
                <a:spcPct val="125000"/>
              </a:lnSpc>
            </a:pPr>
            <a:r>
              <a:rPr lang="en-US" sz="1250" b="0" i="0" dirty="0">
                <a:solidFill>
                  <a:srgbClr val="A8BFCE"/>
                </a:solidFill>
                <a:latin typeface="Arial"/>
              </a:rPr>
              <a:t>Index the rows and retrieval becomes a coin flip.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6144768" y="2468880"/>
            <a:ext cx="5486400" cy="3108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500" b="1" i="0" dirty="0">
                <a:solidFill>
                  <a:srgbClr val="EAF2F7"/>
                </a:solidFill>
                <a:latin typeface="Arial"/>
              </a:rPr>
              <a:t>And most of it isn't residents.</a:t>
            </a:r>
          </a:p>
          <a:p>
            <a:endParaRPr lang="en-US" sz="800"/>
          </a:p>
          <a:p>
            <a:pPr>
              <a:lnSpc>
                <a:spcPct val="125000"/>
              </a:lnSpc>
            </a:pPr>
            <a:r>
              <a:rPr lang="en-US" sz="1250" b="0" i="0" dirty="0">
                <a:solidFill>
                  <a:srgbClr val="A8BFCE"/>
                </a:solidFill>
                <a:latin typeface="Arial"/>
              </a:rPr>
              <a:t>57% of the file is city staff logging their own rounds. Skip that filter and the app says “eleven neighbours reported this too” when seven were an inspector.</a:t>
            </a:r>
          </a:p>
          <a:p>
            <a:endParaRPr lang="en-US" sz="800"/>
          </a:p>
          <a:p>
            <a:pPr>
              <a:lnSpc>
                <a:spcPct val="125000"/>
              </a:lnSpc>
            </a:pPr>
            <a:r>
              <a:rPr lang="en-US" sz="1200" b="0" i="0" dirty="0">
                <a:solidFill>
                  <a:srgbClr val="C1811F"/>
                </a:solidFill>
                <a:latin typeface="Courier New"/>
              </a:rPr>
              <a:t>That is the difference between solidarity and a warm lie.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900" b="0" i="0" dirty="0">
                <a:solidFill>
                  <a:srgbClr val="6E8899"/>
                </a:solidFill>
                <a:latin typeface="Courier New"/>
              </a:rPr>
              <a:t>04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000" b="1" i="0" dirty="0">
                <a:solidFill>
                  <a:srgbClr val="37A2F0"/>
                </a:solidFill>
                <a:latin typeface="Courier New"/>
              </a:rPr>
              <a:t>THE ANSWER</a:t>
            </a:r>
          </a:p>
        </p:txBody>
      </p:sp>
      <p:sp>
        <p:nvSpPr>
          <p:cNvPr id="3" name="r3"/>
          <p:cNvSpPr/>
          <p:nvPr/>
        </p:nvSpPr>
        <p:spPr>
          <a:xfrm>
            <a:off x="566928" y="1280160"/>
            <a:ext cx="6309360" cy="3566160"/>
          </a:xfrm>
          <a:prstGeom prst="rect">
            <a:avLst/>
          </a:prstGeom>
          <a:solidFill>
            <a:srgbClr val="0D2432"/>
          </a:solidFill>
          <a:ln w="12700">
            <a:solidFill>
              <a:srgbClr val="1B4056"/>
            </a:solidFill>
          </a:ln>
        </p:spPr>
        <p:txBody>
          <a:bodyPr/>
          <a:lstStyle/>
          <a:p/>
        </p:txBody>
      </p:sp>
      <p:sp>
        <p:nvSpPr>
          <p:cNvPr id="4" name="r4"/>
          <p:cNvSpPr/>
          <p:nvPr/>
        </p:nvSpPr>
        <p:spPr>
          <a:xfrm>
            <a:off x="566928" y="1280160"/>
            <a:ext cx="6309360" cy="384048"/>
          </a:xfrm>
          <a:prstGeom prst="rect">
            <a:avLst/>
          </a:prstGeom>
          <a:solidFill>
            <a:srgbClr val="2A2417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795528" y="1371600"/>
            <a:ext cx="36576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900" b="1" i="0" dirty="0">
                <a:solidFill>
                  <a:srgbClr val="C1811F"/>
                </a:solidFill>
                <a:latin typeface="Courier New"/>
              </a:rPr>
              <a:t>WORTH PUSHING ON</a:t>
            </a:r>
          </a:p>
        </p:txBody>
      </p:sp>
      <p:sp>
        <p:nvSpPr>
          <p:cNvPr id="6" name="tb6"/>
          <p:cNvSpPr txBox="1"/>
          <p:nvPr/>
        </p:nvSpPr>
        <p:spPr>
          <a:xfrm>
            <a:off x="795528" y="1828800"/>
            <a:ext cx="5852160" cy="11887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2200" b="1" i="0" dirty="0">
                <a:solidFill>
                  <a:srgbClr val="EAF2F7"/>
                </a:solidFill>
                <a:latin typeface="Arial Black"/>
              </a:rPr>
              <a:t>No — </a:t>
            </a:r>
            <a:r>
              <a:rPr lang="en-US" sz="2200" b="1" i="0" dirty="0">
                <a:solidFill>
                  <a:srgbClr val="37A2F0"/>
                </a:solidFill>
                <a:latin typeface="Arial Black"/>
              </a:rPr>
              <a:t>9 residents</a:t>
            </a:r>
            <a:r>
              <a:rPr lang="en-US" sz="2200" b="1" i="0" dirty="0">
                <a:solidFill>
                  <a:srgbClr val="EAF2F7"/>
                </a:solidFill>
                <a:latin typeface="Arial Black"/>
              </a:rPr>
              <a:t> reported rodent activity on 328 Dartmouth St in 2025.</a:t>
            </a:r>
          </a:p>
        </p:txBody>
      </p:sp>
      <p:sp>
        <p:nvSpPr>
          <p:cNvPr id="7" name="tb7"/>
          <p:cNvSpPr txBox="1"/>
          <p:nvPr/>
        </p:nvSpPr>
        <p:spPr>
          <a:xfrm>
            <a:off x="795528" y="3200400"/>
            <a:ext cx="585216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200" b="0" i="0" dirty="0">
                <a:solidFill>
                  <a:srgbClr val="A8BFCE"/>
                </a:solidFill>
                <a:latin typeface="Arial"/>
              </a:rPr>
              <a:t>The city logged 4 more itself, on top of the resident reports.</a:t>
            </a:r>
          </a:p>
          <a:p>
            <a:pPr>
              <a:lnSpc>
                <a:spcPct val="125000"/>
              </a:lnSpc>
            </a:pPr>
            <a:r>
              <a:rPr lang="en-US" sz="1200" b="0" i="0" dirty="0">
                <a:solidFill>
                  <a:srgbClr val="A8BFCE"/>
                </a:solidFill>
                <a:latin typeface="Arial"/>
              </a:rPr>
              <a:t>ISD is the department that handles these.</a:t>
            </a:r>
          </a:p>
          <a:p>
            <a:pPr>
              <a:lnSpc>
                <a:spcPct val="125000"/>
              </a:lnSpc>
            </a:pPr>
            <a:r>
              <a:rPr lang="en-US" sz="1200" b="0" i="0" dirty="0">
                <a:solidFill>
                  <a:srgbClr val="C1811F"/>
                </a:solidFill>
                <a:latin typeface="Arial"/>
              </a:rPr>
              <a:t>12 of the cases there closed as “noted only” — recorded, with no fix logged.</a:t>
            </a:r>
          </a:p>
        </p:txBody>
      </p:sp>
      <p:sp>
        <p:nvSpPr>
          <p:cNvPr id="99" name="tb99"/>
          <p:cNvSpPr txBox="1"/>
          <p:nvPr/>
        </p:nvSpPr>
        <p:spPr>
          <a:xfrm>
            <a:off x="7242048" y="1371600"/>
            <a:ext cx="4297680" cy="1828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95000"/>
              </a:lnSpc>
            </a:pPr>
            <a:r>
              <a:rPr lang="en-US" sz="2600" b="1" i="0" dirty="0">
                <a:solidFill>
                  <a:srgbClr val="EAF2F7"/>
                </a:solidFill>
                <a:latin typeface="Arial Black"/>
              </a:rPr>
              <a:t>LEGITIMACY FIRST. </a:t>
            </a:r>
            <a:r>
              <a:rPr lang="en-US" sz="2600" b="1" i="0" dirty="0">
                <a:solidFill>
                  <a:srgbClr val="E0574A"/>
                </a:solidFill>
                <a:latin typeface="Arial Black"/>
              </a:rPr>
              <a:t>LOGISTICS SECOND.</a:t>
            </a:r>
          </a:p>
        </p:txBody>
      </p:sp>
      <p:sp>
        <p:nvSpPr>
          <p:cNvPr id="9" name="tb9"/>
          <p:cNvSpPr txBox="1"/>
          <p:nvPr/>
        </p:nvSpPr>
        <p:spPr>
          <a:xfrm>
            <a:off x="7242048" y="3200400"/>
            <a:ext cx="429768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250" b="0" i="0" dirty="0">
                <a:solidFill>
                  <a:srgbClr val="A8BFCE"/>
                </a:solidFill>
                <a:latin typeface="Arial"/>
              </a:rPr>
              <a:t>The opening sentence is the one that dissolves the shame. The department name, the timeline, the parcel history — all of it comes after.</a:t>
            </a:r>
          </a:p>
          <a:p>
            <a:endParaRPr lang="en-US" sz="800"/>
          </a:p>
          <a:p>
            <a:pPr>
              <a:lnSpc>
                <a:spcPct val="125000"/>
              </a:lnSpc>
            </a:pPr>
            <a:r>
              <a:rPr lang="en-US" sz="1100" b="0" i="0" dirty="0">
                <a:solidFill>
                  <a:srgbClr val="6E8899"/>
                </a:solidFill>
                <a:latin typeface="Courier New"/>
              </a:rPr>
              <a:t>Every figure traces to a real case ID that opens the city's own record. Citations are bound from retrieved rows, so the model cannot invent one.</a:t>
            </a:r>
          </a:p>
        </p:txBody>
      </p:sp>
      <p:sp>
        <p:nvSpPr>
          <p:cNvPr id="10" name="tb10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900" b="0" i="0" dirty="0">
                <a:solidFill>
                  <a:srgbClr val="6E8899"/>
                </a:solidFill>
                <a:latin typeface="Courier New"/>
              </a:rPr>
              <a:t>05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000" b="1" i="0" dirty="0">
                <a:solidFill>
                  <a:srgbClr val="37A2F0"/>
                </a:solidFill>
                <a:latin typeface="Courier New"/>
              </a:rPr>
              <a:t>HOW IT WORKS</a:t>
            </a:r>
          </a:p>
        </p:txBody>
      </p:sp>
      <p:sp>
        <p:nvSpPr>
          <p:cNvPr id="3" name="tb3"/>
          <p:cNvSpPr txBox="1"/>
          <p:nvPr/>
        </p:nvSpPr>
        <p:spPr>
          <a:xfrm>
            <a:off x="566928" y="868680"/>
            <a:ext cx="11057839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95000"/>
              </a:lnSpc>
            </a:pPr>
            <a:r>
              <a:rPr lang="en-US" sz="2600" b="1" i="0" dirty="0">
                <a:solidFill>
                  <a:srgbClr val="EAF2F7"/>
                </a:solidFill>
                <a:latin typeface="Arial Black"/>
              </a:rPr>
              <a:t>THREE GUARDRAILS, </a:t>
            </a:r>
            <a:r>
              <a:rPr lang="en-US" sz="2600" b="1" i="0" dirty="0">
                <a:solidFill>
                  <a:srgbClr val="37A2F0"/>
                </a:solidFill>
                <a:latin typeface="Arial Black"/>
              </a:rPr>
              <a:t>VISIBLE ON SCREEN</a:t>
            </a:r>
          </a:p>
        </p:txBody>
      </p:sp>
      <p:sp>
        <p:nvSpPr>
          <p:cNvPr id="4" name="r4"/>
          <p:cNvSpPr/>
          <p:nvPr/>
        </p:nvSpPr>
        <p:spPr>
          <a:xfrm>
            <a:off x="566928" y="2148840"/>
            <a:ext cx="6492240" cy="475488"/>
          </a:xfrm>
          <a:prstGeom prst="rect">
            <a:avLst/>
          </a:prstGeom>
          <a:solidFill>
            <a:srgbClr val="0D2432"/>
          </a:solidFill>
          <a:ln w="12700">
            <a:solidFill>
              <a:srgbClr val="1B4056"/>
            </a:solidFill>
          </a:ln>
        </p:spPr>
        <p:txBody>
          <a:bodyPr/>
          <a:lstStyle/>
          <a:p/>
        </p:txBody>
      </p:sp>
      <p:sp>
        <p:nvSpPr>
          <p:cNvPr id="5" name="r5"/>
          <p:cNvSpPr/>
          <p:nvPr/>
        </p:nvSpPr>
        <p:spPr>
          <a:xfrm>
            <a:off x="566928" y="2148840"/>
            <a:ext cx="41148" cy="475488"/>
          </a:xfrm>
          <a:prstGeom prst="rect">
            <a:avLst/>
          </a:prstGeom>
          <a:solidFill>
            <a:srgbClr val="37A2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b6"/>
          <p:cNvSpPr txBox="1"/>
          <p:nvPr/>
        </p:nvSpPr>
        <p:spPr>
          <a:xfrm>
            <a:off x="749808" y="2267712"/>
            <a:ext cx="6309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050" b="0" i="0" dirty="0">
                <a:solidFill>
                  <a:srgbClr val="37A2F0"/>
                </a:solidFill>
                <a:latin typeface="Courier New"/>
              </a:rPr>
              <a:t>(1)  Classify intent — out of scope or personal? refuse, never search</a:t>
            </a:r>
          </a:p>
        </p:txBody>
      </p:sp>
      <p:sp>
        <p:nvSpPr>
          <p:cNvPr id="7" name="r7"/>
          <p:cNvSpPr/>
          <p:nvPr/>
        </p:nvSpPr>
        <p:spPr>
          <a:xfrm>
            <a:off x="566928" y="2724912"/>
            <a:ext cx="6492240" cy="475488"/>
          </a:xfrm>
          <a:prstGeom prst="rect">
            <a:avLst/>
          </a:prstGeom>
          <a:solidFill>
            <a:srgbClr val="0D2432"/>
          </a:solidFill>
          <a:ln w="12700">
            <a:solidFill>
              <a:srgbClr val="1B4056"/>
            </a:solidFill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749808" y="2843784"/>
            <a:ext cx="6309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050" b="0" i="0" dirty="0">
                <a:solidFill>
                  <a:srgbClr val="A8BFCE"/>
                </a:solidFill>
                <a:latin typeface="Courier New"/>
              </a:rPr>
              <a:t>-&gt;  Hard filters — street, category, residents only, from THIS turn only</a:t>
            </a:r>
          </a:p>
        </p:txBody>
      </p:sp>
      <p:sp>
        <p:nvSpPr>
          <p:cNvPr id="9" name="r9"/>
          <p:cNvSpPr/>
          <p:nvPr/>
        </p:nvSpPr>
        <p:spPr>
          <a:xfrm>
            <a:off x="566928" y="3300984"/>
            <a:ext cx="6492240" cy="475488"/>
          </a:xfrm>
          <a:prstGeom prst="rect">
            <a:avLst/>
          </a:prstGeom>
          <a:solidFill>
            <a:srgbClr val="0D2432"/>
          </a:solidFill>
          <a:ln w="12700">
            <a:solidFill>
              <a:srgbClr val="1B4056"/>
            </a:solidFill>
          </a:ln>
        </p:spPr>
        <p:txBody>
          <a:bodyPr/>
          <a:lstStyle/>
          <a:p/>
        </p:txBody>
      </p:sp>
      <p:sp>
        <p:nvSpPr>
          <p:cNvPr id="10" name="tb10"/>
          <p:cNvSpPr txBox="1"/>
          <p:nvPr/>
        </p:nvSpPr>
        <p:spPr>
          <a:xfrm>
            <a:off x="749808" y="3419856"/>
            <a:ext cx="6309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050" b="0" i="0" dirty="0">
                <a:solidFill>
                  <a:srgbClr val="A8BFCE"/>
                </a:solidFill>
                <a:latin typeface="Courier New"/>
              </a:rPr>
              <a:t>-&gt;  Stage 1 — citywide category card</a:t>
            </a:r>
          </a:p>
        </p:txBody>
      </p:sp>
      <p:sp>
        <p:nvSpPr>
          <p:cNvPr id="11" name="r11"/>
          <p:cNvSpPr/>
          <p:nvPr/>
        </p:nvSpPr>
        <p:spPr>
          <a:xfrm>
            <a:off x="566928" y="3877056"/>
            <a:ext cx="6492240" cy="475488"/>
          </a:xfrm>
          <a:prstGeom prst="rect">
            <a:avLst/>
          </a:prstGeom>
          <a:solidFill>
            <a:srgbClr val="0D2432"/>
          </a:solidFill>
          <a:ln w="12700">
            <a:solidFill>
              <a:srgbClr val="1B4056"/>
            </a:solidFill>
          </a:ln>
        </p:spPr>
        <p:txBody>
          <a:bodyPr/>
          <a:lstStyle/>
          <a:p/>
        </p:txBody>
      </p:sp>
      <p:sp>
        <p:nvSpPr>
          <p:cNvPr id="12" name="tb12"/>
          <p:cNvSpPr txBox="1"/>
          <p:nvPr/>
        </p:nvSpPr>
        <p:spPr>
          <a:xfrm>
            <a:off x="749808" y="3995928"/>
            <a:ext cx="6309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050" b="0" i="0" dirty="0">
                <a:solidFill>
                  <a:srgbClr val="A8BFCE"/>
                </a:solidFill>
                <a:latin typeface="Courier New"/>
              </a:rPr>
              <a:t>-&gt;  Stage 2 — street-level card inside that category</a:t>
            </a:r>
          </a:p>
        </p:txBody>
      </p:sp>
      <p:sp>
        <p:nvSpPr>
          <p:cNvPr id="13" name="r13"/>
          <p:cNvSpPr/>
          <p:nvPr/>
        </p:nvSpPr>
        <p:spPr>
          <a:xfrm>
            <a:off x="566928" y="4453128"/>
            <a:ext cx="6492240" cy="475488"/>
          </a:xfrm>
          <a:prstGeom prst="rect">
            <a:avLst/>
          </a:prstGeom>
          <a:solidFill>
            <a:srgbClr val="0D2432"/>
          </a:solidFill>
          <a:ln w="12700">
            <a:solidFill>
              <a:srgbClr val="1B4056"/>
            </a:solidFill>
          </a:ln>
        </p:spPr>
        <p:txBody>
          <a:bodyPr/>
          <a:lstStyle/>
          <a:p/>
        </p:txBody>
      </p:sp>
      <p:sp>
        <p:nvSpPr>
          <p:cNvPr id="14" name="r14"/>
          <p:cNvSpPr/>
          <p:nvPr/>
        </p:nvSpPr>
        <p:spPr>
          <a:xfrm>
            <a:off x="566928" y="4453128"/>
            <a:ext cx="41148" cy="475488"/>
          </a:xfrm>
          <a:prstGeom prst="rect">
            <a:avLst/>
          </a:prstGeom>
          <a:solidFill>
            <a:srgbClr val="37A2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b15"/>
          <p:cNvSpPr txBox="1"/>
          <p:nvPr/>
        </p:nvSpPr>
        <p:spPr>
          <a:xfrm>
            <a:off x="749808" y="4572000"/>
            <a:ext cx="6309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050" b="0" i="0" dirty="0">
                <a:solidFill>
                  <a:srgbClr val="37A2F0"/>
                </a:solidFill>
                <a:latin typeface="Courier New"/>
              </a:rPr>
              <a:t>(2)  Sensitivity gate — address detail withheld unless asked for</a:t>
            </a:r>
          </a:p>
        </p:txBody>
      </p:sp>
      <p:sp>
        <p:nvSpPr>
          <p:cNvPr id="16" name="r16"/>
          <p:cNvSpPr/>
          <p:nvPr/>
        </p:nvSpPr>
        <p:spPr>
          <a:xfrm>
            <a:off x="566928" y="5029200"/>
            <a:ext cx="6492240" cy="475488"/>
          </a:xfrm>
          <a:prstGeom prst="rect">
            <a:avLst/>
          </a:prstGeom>
          <a:solidFill>
            <a:srgbClr val="0D2432"/>
          </a:solidFill>
          <a:ln w="12700">
            <a:solidFill>
              <a:srgbClr val="1B4056"/>
            </a:solidFill>
          </a:ln>
        </p:spPr>
        <p:txBody>
          <a:bodyPr/>
          <a:lstStyle/>
          <a:p/>
        </p:txBody>
      </p:sp>
      <p:sp>
        <p:nvSpPr>
          <p:cNvPr id="17" name="tb17"/>
          <p:cNvSpPr txBox="1"/>
          <p:nvPr/>
        </p:nvSpPr>
        <p:spPr>
          <a:xfrm>
            <a:off x="749808" y="5148072"/>
            <a:ext cx="6309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050" b="0" i="0" dirty="0">
                <a:solidFill>
                  <a:srgbClr val="A8BFCE"/>
                </a:solidFill>
                <a:latin typeface="Courier New"/>
              </a:rPr>
              <a:t>-&gt;  Score floor — no match, say “I don't have a source I trust”</a:t>
            </a:r>
          </a:p>
        </p:txBody>
      </p:sp>
      <p:sp>
        <p:nvSpPr>
          <p:cNvPr id="18" name="r18"/>
          <p:cNvSpPr/>
          <p:nvPr/>
        </p:nvSpPr>
        <p:spPr>
          <a:xfrm>
            <a:off x="566928" y="5605272"/>
            <a:ext cx="6492240" cy="475488"/>
          </a:xfrm>
          <a:prstGeom prst="rect">
            <a:avLst/>
          </a:prstGeom>
          <a:solidFill>
            <a:srgbClr val="0D2432"/>
          </a:solidFill>
          <a:ln w="12700">
            <a:solidFill>
              <a:srgbClr val="1B4056"/>
            </a:solidFill>
          </a:ln>
        </p:spPr>
        <p:txBody>
          <a:bodyPr/>
          <a:lstStyle/>
          <a:p/>
        </p:txBody>
      </p:sp>
      <p:sp>
        <p:nvSpPr>
          <p:cNvPr id="19" name="r19"/>
          <p:cNvSpPr/>
          <p:nvPr/>
        </p:nvSpPr>
        <p:spPr>
          <a:xfrm>
            <a:off x="566928" y="5605272"/>
            <a:ext cx="41148" cy="475488"/>
          </a:xfrm>
          <a:prstGeom prst="rect">
            <a:avLst/>
          </a:prstGeom>
          <a:solidFill>
            <a:srgbClr val="37A2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20"/>
          <p:cNvSpPr txBox="1"/>
          <p:nvPr/>
        </p:nvSpPr>
        <p:spPr>
          <a:xfrm>
            <a:off x="749808" y="5724144"/>
            <a:ext cx="6309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050" b="0" i="0" dirty="0">
                <a:solidFill>
                  <a:srgbClr val="37A2F0"/>
                </a:solidFill>
                <a:latin typeface="Courier New"/>
              </a:rPr>
              <a:t>(3)  Output — every claim bound to a field, or it isn't written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7424928" y="2194560"/>
            <a:ext cx="4114800" cy="34747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300" b="0" i="0" dirty="0">
                <a:solidFill>
                  <a:srgbClr val="A8BFCE"/>
                </a:solidFill>
                <a:latin typeface="Arial"/>
              </a:rPr>
              <a:t>Ask for a landlord's phone number and the input guard blocks it before any search runs.</a:t>
            </a:r>
          </a:p>
          <a:p>
            <a:endParaRPr lang="en-US" sz="800"/>
          </a:p>
          <a:p>
            <a:pPr>
              <a:lnSpc>
                <a:spcPct val="125000"/>
              </a:lnSpc>
            </a:pPr>
            <a:r>
              <a:rPr lang="en-US" sz="1100" b="1" i="0" dirty="0">
                <a:solidFill>
                  <a:srgbClr val="E0574A"/>
                </a:solidFill>
                <a:latin typeface="Courier New"/>
              </a:rPr>
              <a:t>(1) Input      BLOCKED</a:t>
            </a:r>
          </a:p>
          <a:p>
            <a:pPr>
              <a:lnSpc>
                <a:spcPct val="125000"/>
              </a:lnSpc>
            </a:pPr>
            <a:r>
              <a:rPr lang="en-US" sz="1100" b="1" i="0" dirty="0">
                <a:solidFill>
                  <a:srgbClr val="E0574A"/>
                </a:solidFill>
                <a:latin typeface="Courier New"/>
              </a:rPr>
              <a:t>(2) Retrieval  NEVER RAN</a:t>
            </a:r>
          </a:p>
          <a:p>
            <a:pPr>
              <a:lnSpc>
                <a:spcPct val="125000"/>
              </a:lnSpc>
            </a:pPr>
            <a:r>
              <a:rPr lang="en-US" sz="1100" b="1" i="0" dirty="0">
                <a:solidFill>
                  <a:srgbClr val="E0574A"/>
                </a:solidFill>
                <a:latin typeface="Courier New"/>
              </a:rPr>
              <a:t>(3) Output     REFUSED</a:t>
            </a:r>
          </a:p>
          <a:p>
            <a:endParaRPr lang="en-US" sz="800"/>
          </a:p>
          <a:p>
            <a:pPr>
              <a:lnSpc>
                <a:spcPct val="125000"/>
              </a:lnSpc>
            </a:pPr>
            <a:r>
              <a:rPr lang="en-US" sz="1100" b="0" i="0" dirty="0">
                <a:solidFill>
                  <a:srgbClr val="6E8899"/>
                </a:solidFill>
                <a:latin typeface="Courier New"/>
              </a:rPr>
              <a:t>Being told nothing is honest beats being told something plausible.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900" b="0" i="0" dirty="0">
                <a:solidFill>
                  <a:srgbClr val="6E8899"/>
                </a:solidFill>
                <a:latin typeface="Courier New"/>
              </a:rPr>
              <a:t>06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000" b="1" i="0" dirty="0">
                <a:solidFill>
                  <a:srgbClr val="37A2F0"/>
                </a:solidFill>
                <a:latin typeface="Courier New"/>
              </a:rPr>
              <a:t>THE PRIORITY BOARD</a:t>
            </a:r>
          </a:p>
        </p:txBody>
      </p:sp>
      <p:sp>
        <p:nvSpPr>
          <p:cNvPr id="3" name="tb3"/>
          <p:cNvSpPr txBox="1"/>
          <p:nvPr/>
        </p:nvSpPr>
        <p:spPr>
          <a:xfrm>
            <a:off x="566928" y="868680"/>
            <a:ext cx="11057839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95000"/>
              </a:lnSpc>
            </a:pPr>
            <a:r>
              <a:rPr lang="en-US" sz="2600" b="1" i="0" dirty="0">
                <a:solidFill>
                  <a:srgbClr val="EAF2F7"/>
                </a:solidFill>
                <a:latin typeface="Arial Black"/>
              </a:rPr>
              <a:t>BOSTON'S QUEUE HAS </a:t>
            </a:r>
            <a:r>
              <a:rPr lang="en-US" sz="2600" b="1" i="0" dirty="0">
                <a:solidFill>
                  <a:srgbClr val="E0574A"/>
                </a:solidFill>
                <a:latin typeface="Arial Black"/>
              </a:rPr>
              <a:t>NO SEVERITY FIELD.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566928" y="2377440"/>
            <a:ext cx="5212080" cy="3108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400" b="0" i="0" dirty="0">
                <a:solidFill>
                  <a:srgbClr val="EAF2F7"/>
                </a:solidFill>
                <a:latin typeface="Arial"/>
              </a:rPr>
              <a:t>A rat infestation and a misplaced trash barrel enter the same queue, with the same clock.</a:t>
            </a:r>
          </a:p>
          <a:p>
            <a:endParaRPr lang="en-US" sz="800"/>
          </a:p>
          <a:p>
            <a:pPr>
              <a:lnSpc>
                <a:spcPct val="125000"/>
              </a:lnSpc>
            </a:pPr>
            <a:r>
              <a:rPr lang="en-US" sz="1200" b="0" i="0" dirty="0">
                <a:solidFill>
                  <a:srgbClr val="A8BFCE"/>
                </a:solidFill>
                <a:latin typeface="Arial"/>
              </a:rPr>
              <a:t>Our first ranking let parking enforcement — 22% of the file — bury everything that can actually hurt someone. Crowd size now goes through a log, so tier does the work.</a:t>
            </a:r>
          </a:p>
          <a:p>
            <a:endParaRPr lang="en-US" sz="800"/>
          </a:p>
          <a:p>
            <a:pPr>
              <a:lnSpc>
                <a:spcPct val="125000"/>
              </a:lnSpc>
            </a:pPr>
            <a:r>
              <a:rPr lang="en-US" sz="1250" b="1" i="0" dirty="0">
                <a:solidFill>
                  <a:srgbClr val="EAF2F7"/>
                </a:solidFill>
                <a:latin typeface="Arial"/>
              </a:rPr>
              <a:t>Top 40 is now 24 safety + 16 habitability. Zero parking.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6144768" y="2377440"/>
            <a:ext cx="54864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900" b="0" i="0" dirty="0">
                <a:solidFill>
                  <a:srgbClr val="6E8899"/>
                </a:solidFill>
                <a:latin typeface="Courier New"/>
              </a:rPr>
              <a:t>TIER            SHARE    NOTED ONLY   WHO HANDLES IT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144768" y="2743200"/>
            <a:ext cx="54864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100" b="0" i="0" dirty="0">
                <a:solidFill>
                  <a:srgbClr val="37A2F0"/>
                </a:solidFill>
                <a:latin typeface="Courier New"/>
              </a:rPr>
              <a:t>P1 Safety       14.2%    </a:t>
            </a:r>
            <a:r>
              <a:rPr lang="en-US" sz="1100" b="0" i="0" dirty="0">
                <a:solidFill>
                  <a:srgbClr val="EAF2F7"/>
                </a:solidFill>
                <a:latin typeface="Courier New"/>
              </a:rPr>
              <a:t>19.8%       </a:t>
            </a:r>
            <a:r>
              <a:rPr lang="en-US" sz="1100" b="0" i="0" dirty="0">
                <a:solidFill>
                  <a:srgbClr val="A8BFCE"/>
                </a:solidFill>
                <a:latin typeface="Courier New"/>
              </a:rPr>
              <a:t>Human, now</a:t>
            </a:r>
          </a:p>
        </p:txBody>
      </p:sp>
      <p:sp>
        <p:nvSpPr>
          <p:cNvPr id="7" name="tb7"/>
          <p:cNvSpPr txBox="1"/>
          <p:nvPr/>
        </p:nvSpPr>
        <p:spPr>
          <a:xfrm>
            <a:off x="6144768" y="3154680"/>
            <a:ext cx="54864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100" b="0" i="0" dirty="0">
                <a:solidFill>
                  <a:srgbClr val="37A2F0"/>
                </a:solidFill>
                <a:latin typeface="Courier New"/>
              </a:rPr>
              <a:t>P2 Home         7.0%     </a:t>
            </a:r>
            <a:r>
              <a:rPr lang="en-US" sz="1100" b="1" i="0" dirty="0">
                <a:solidFill>
                  <a:srgbClr val="E0574A"/>
                </a:solidFill>
                <a:latin typeface="Courier New"/>
              </a:rPr>
              <a:t>63.5%       </a:t>
            </a:r>
            <a:r>
              <a:rPr lang="en-US" sz="1100" b="0" i="0" dirty="0">
                <a:solidFill>
                  <a:srgbClr val="A8BFCE"/>
                </a:solidFill>
                <a:latin typeface="Courier New"/>
              </a:rPr>
              <a:t>Human, scheduled</a:t>
            </a:r>
          </a:p>
        </p:txBody>
      </p:sp>
      <p:sp>
        <p:nvSpPr>
          <p:cNvPr id="8" name="tb8"/>
          <p:cNvSpPr txBox="1"/>
          <p:nvPr/>
        </p:nvSpPr>
        <p:spPr>
          <a:xfrm>
            <a:off x="6144768" y="3566160"/>
            <a:ext cx="54864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100" b="0" i="0" dirty="0">
                <a:solidFill>
                  <a:srgbClr val="37A2F0"/>
                </a:solidFill>
                <a:latin typeface="Courier New"/>
              </a:rPr>
              <a:t>P3 Routine      74.6%    </a:t>
            </a:r>
            <a:r>
              <a:rPr lang="en-US" sz="1100" b="0" i="0" dirty="0">
                <a:solidFill>
                  <a:srgbClr val="EAF2F7"/>
                </a:solidFill>
                <a:latin typeface="Courier New"/>
              </a:rPr>
              <a:t>30.0%       </a:t>
            </a:r>
            <a:r>
              <a:rPr lang="en-US" sz="1100" b="0" i="0" dirty="0">
                <a:solidFill>
                  <a:srgbClr val="A8BFCE"/>
                </a:solidFill>
                <a:latin typeface="Courier New"/>
              </a:rPr>
              <a:t>System proposes</a:t>
            </a:r>
          </a:p>
        </p:txBody>
      </p:sp>
      <p:sp>
        <p:nvSpPr>
          <p:cNvPr id="9" name="tb9"/>
          <p:cNvSpPr txBox="1"/>
          <p:nvPr/>
        </p:nvSpPr>
        <p:spPr>
          <a:xfrm>
            <a:off x="6144768" y="3977640"/>
            <a:ext cx="54864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100" b="0" i="0" dirty="0">
                <a:solidFill>
                  <a:srgbClr val="37A2F0"/>
                </a:solidFill>
                <a:latin typeface="Courier New"/>
              </a:rPr>
              <a:t>P4 Admin        4.2%     </a:t>
            </a:r>
            <a:r>
              <a:rPr lang="en-US" sz="1100" b="0" i="0" dirty="0">
                <a:solidFill>
                  <a:srgbClr val="EAF2F7"/>
                </a:solidFill>
                <a:latin typeface="Courier New"/>
              </a:rPr>
              <a:t>7.8%        </a:t>
            </a:r>
            <a:r>
              <a:rPr lang="en-US" sz="1100" b="0" i="0" dirty="0">
                <a:solidFill>
                  <a:srgbClr val="A8BFCE"/>
                </a:solidFill>
                <a:latin typeface="Courier New"/>
              </a:rPr>
              <a:t>Fully automated</a:t>
            </a:r>
          </a:p>
        </p:txBody>
      </p:sp>
      <p:sp>
        <p:nvSpPr>
          <p:cNvPr id="10" name="tb10"/>
          <p:cNvSpPr txBox="1"/>
          <p:nvPr/>
        </p:nvSpPr>
        <p:spPr>
          <a:xfrm>
            <a:off x="6144768" y="4663440"/>
            <a:ext cx="548640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050" b="0" i="0" dirty="0">
                <a:solidFill>
                  <a:srgbClr val="6E8899"/>
                </a:solidFill>
                <a:latin typeface="Courier New"/>
              </a:rPr>
              <a:t>78.8% of the queue is routine or transactional — and it is choking the 21% that needs a person.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900" b="0" i="0" dirty="0">
                <a:solidFill>
                  <a:srgbClr val="6E8899"/>
                </a:solidFill>
                <a:latin typeface="Courier New"/>
              </a:rPr>
              <a:t>07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000" b="1" i="0" dirty="0">
                <a:solidFill>
                  <a:srgbClr val="37A2F0"/>
                </a:solidFill>
                <a:latin typeface="Courier New"/>
              </a:rPr>
              <a:t>THE FOUR PRIORITY TIERS</a:t>
            </a:r>
          </a:p>
        </p:txBody>
      </p:sp>
      <p:sp>
        <p:nvSpPr>
          <p:cNvPr id="3" name="tb3"/>
          <p:cNvSpPr txBox="1"/>
          <p:nvPr/>
        </p:nvSpPr>
        <p:spPr>
          <a:xfrm>
            <a:off x="566928" y="868680"/>
            <a:ext cx="11057839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95000"/>
              </a:lnSpc>
            </a:pPr>
            <a:r>
              <a:rPr lang="en-US" sz="2400" b="1" i="0" dirty="0">
                <a:solidFill>
                  <a:srgbClr val="EAF2F7"/>
                </a:solidFill>
                <a:latin typeface="Arial Black"/>
              </a:rPr>
              <a:t>THEY ANSWER ONE QUESTION: </a:t>
            </a:r>
            <a:r>
              <a:rPr lang="en-US" sz="2400" b="1" i="0" dirty="0">
                <a:solidFill>
                  <a:srgbClr val="E0574A"/>
                </a:solidFill>
                <a:latin typeface="Arial Black"/>
              </a:rPr>
              <a:t>WHO SHOULD TOUCH THIS?</a:t>
            </a:r>
          </a:p>
        </p:txBody>
      </p:sp>
      <p:sp>
        <p:nvSpPr>
          <p:cNvPr id="4" name="tb4"/>
          <p:cNvSpPr txBox="1"/>
          <p:nvPr/>
        </p:nvSpPr>
        <p:spPr>
          <a:xfrm>
            <a:off x="566928" y="192024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150" b="0" i="0" dirty="0">
                <a:solidFill>
                  <a:srgbClr val="A8BFCE"/>
                </a:solidFill>
                <a:latin typeface="Arial"/>
              </a:rPr>
              <a:t>Not is this real — all 267,187 rows are real people. Nothing is discarded, only routed.</a:t>
            </a:r>
          </a:p>
        </p:txBody>
      </p:sp>
      <p:sp>
        <p:nvSpPr>
          <p:cNvPr id="5" name="r5"/>
          <p:cNvSpPr/>
          <p:nvPr/>
        </p:nvSpPr>
        <p:spPr>
          <a:xfrm>
            <a:off x="566928" y="2468880"/>
            <a:ext cx="2613583" cy="3017520"/>
          </a:xfrm>
          <a:prstGeom prst="rect">
            <a:avLst/>
          </a:prstGeom>
          <a:solidFill>
            <a:srgbClr val="0D2432"/>
          </a:solidFill>
          <a:ln w="12700">
            <a:solidFill>
              <a:srgbClr val="1B4056"/>
            </a:solidFill>
          </a:ln>
        </p:spPr>
        <p:txBody>
          <a:bodyPr/>
          <a:lstStyle/>
          <a:p/>
        </p:txBody>
      </p:sp>
      <p:sp>
        <p:nvSpPr>
          <p:cNvPr id="6" name="r6"/>
          <p:cNvSpPr/>
          <p:nvPr/>
        </p:nvSpPr>
        <p:spPr>
          <a:xfrm>
            <a:off x="566928" y="2468880"/>
            <a:ext cx="2613583" cy="41148"/>
          </a:xfrm>
          <a:prstGeom prst="rect">
            <a:avLst/>
          </a:prstGeom>
          <a:solidFill>
            <a:srgbClr val="E0574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b7"/>
          <p:cNvSpPr txBox="1"/>
          <p:nvPr/>
        </p:nvSpPr>
        <p:spPr>
          <a:xfrm>
            <a:off x="713232" y="2651760"/>
            <a:ext cx="2320975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500" b="1" i="0" dirty="0">
                <a:solidFill>
                  <a:srgbClr val="E0574A"/>
                </a:solidFill>
                <a:latin typeface="Arial Black"/>
              </a:rPr>
              <a:t>P1 · SAFETY</a:t>
            </a:r>
          </a:p>
        </p:txBody>
      </p:sp>
      <p:sp>
        <p:nvSpPr>
          <p:cNvPr id="8" name="tb8"/>
          <p:cNvSpPr txBox="1"/>
          <p:nvPr/>
        </p:nvSpPr>
        <p:spPr>
          <a:xfrm>
            <a:off x="713232" y="2999232"/>
            <a:ext cx="2320975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800" b="1" i="0" dirty="0">
                <a:solidFill>
                  <a:srgbClr val="EAF2F7"/>
                </a:solidFill>
                <a:latin typeface="Courier New"/>
              </a:rPr>
              <a:t>HUMAN, NOW</a:t>
            </a:r>
          </a:p>
        </p:txBody>
      </p:sp>
      <p:sp>
        <p:nvSpPr>
          <p:cNvPr id="9" name="tb9"/>
          <p:cNvSpPr txBox="1"/>
          <p:nvPr/>
        </p:nvSpPr>
        <p:spPr>
          <a:xfrm>
            <a:off x="713232" y="3429000"/>
            <a:ext cx="2320975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950" b="0" i="0" dirty="0">
                <a:solidFill>
                  <a:srgbClr val="A8BFCE"/>
                </a:solidFill>
                <a:latin typeface="Arial"/>
              </a:rPr>
              <a:t>Someone can be physically hurt and the harm is irreversible.</a:t>
            </a:r>
          </a:p>
        </p:txBody>
      </p:sp>
      <p:sp>
        <p:nvSpPr>
          <p:cNvPr id="10" name="tb10"/>
          <p:cNvSpPr txBox="1"/>
          <p:nvPr/>
        </p:nvSpPr>
        <p:spPr>
          <a:xfrm>
            <a:off x="713232" y="4343400"/>
            <a:ext cx="2320975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2200" b="1" i="0" dirty="0">
                <a:solidFill>
                  <a:srgbClr val="E0574A"/>
                </a:solidFill>
                <a:latin typeface="Arial Black"/>
              </a:rPr>
              <a:t>83%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713232" y="4800600"/>
            <a:ext cx="2320975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750" b="0" i="0" dirty="0">
                <a:solidFill>
                  <a:srgbClr val="6E8899"/>
                </a:solidFill>
                <a:latin typeface="Courier New"/>
              </a:rPr>
              <a:t>OVERDUE ON “MAKE SAFE” — WORST IN THE FILE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713232" y="5230368"/>
            <a:ext cx="2320975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800" b="0" i="0" dirty="0">
                <a:solidFill>
                  <a:srgbClr val="6E8899"/>
                </a:solidFill>
                <a:latin typeface="Courier New"/>
              </a:rPr>
              <a:t>14.2% of volume</a:t>
            </a:r>
          </a:p>
        </p:txBody>
      </p:sp>
      <p:sp>
        <p:nvSpPr>
          <p:cNvPr id="13" name="r13"/>
          <p:cNvSpPr/>
          <p:nvPr/>
        </p:nvSpPr>
        <p:spPr>
          <a:xfrm>
            <a:off x="3381679" y="2468880"/>
            <a:ext cx="2613583" cy="3017520"/>
          </a:xfrm>
          <a:prstGeom prst="rect">
            <a:avLst/>
          </a:prstGeom>
          <a:solidFill>
            <a:srgbClr val="0D2432"/>
          </a:solidFill>
          <a:ln w="12700">
            <a:solidFill>
              <a:srgbClr val="1B4056"/>
            </a:solidFill>
          </a:ln>
        </p:spPr>
        <p:txBody>
          <a:bodyPr/>
          <a:lstStyle/>
          <a:p/>
        </p:txBody>
      </p:sp>
      <p:sp>
        <p:nvSpPr>
          <p:cNvPr id="14" name="r14"/>
          <p:cNvSpPr/>
          <p:nvPr/>
        </p:nvSpPr>
        <p:spPr>
          <a:xfrm>
            <a:off x="3381679" y="2468880"/>
            <a:ext cx="2613583" cy="41148"/>
          </a:xfrm>
          <a:prstGeom prst="rect">
            <a:avLst/>
          </a:prstGeom>
          <a:solidFill>
            <a:srgbClr val="C1811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b15"/>
          <p:cNvSpPr txBox="1"/>
          <p:nvPr/>
        </p:nvSpPr>
        <p:spPr>
          <a:xfrm>
            <a:off x="3527983" y="2651760"/>
            <a:ext cx="2320975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500" b="1" i="0" dirty="0">
                <a:solidFill>
                  <a:srgbClr val="C1811F"/>
                </a:solidFill>
                <a:latin typeface="Arial Black"/>
              </a:rPr>
              <a:t>P2 · HOME</a:t>
            </a:r>
          </a:p>
        </p:txBody>
      </p:sp>
      <p:sp>
        <p:nvSpPr>
          <p:cNvPr id="16" name="tb16"/>
          <p:cNvSpPr txBox="1"/>
          <p:nvPr/>
        </p:nvSpPr>
        <p:spPr>
          <a:xfrm>
            <a:off x="3527983" y="2999232"/>
            <a:ext cx="2320975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800" b="1" i="0" dirty="0">
                <a:solidFill>
                  <a:srgbClr val="EAF2F7"/>
                </a:solidFill>
                <a:latin typeface="Courier New"/>
              </a:rPr>
              <a:t>HUMAN, SCHEDULED — RETURN VISIT</a:t>
            </a:r>
          </a:p>
        </p:txBody>
      </p:sp>
      <p:sp>
        <p:nvSpPr>
          <p:cNvPr id="17" name="tb17"/>
          <p:cNvSpPr txBox="1"/>
          <p:nvPr/>
        </p:nvSpPr>
        <p:spPr>
          <a:xfrm>
            <a:off x="3527983" y="3429000"/>
            <a:ext cx="2320975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950" b="0" i="0" dirty="0">
                <a:solidFill>
                  <a:srgbClr val="A8BFCE"/>
                </a:solidFill>
                <a:latin typeface="Arial"/>
              </a:rPr>
              <a:t>It makes a home unlivable, it recurs, one visit doesn't end it.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3527983" y="4343400"/>
            <a:ext cx="2320975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2200" b="1" i="0" dirty="0">
                <a:solidFill>
                  <a:srgbClr val="C1811F"/>
                </a:solidFill>
                <a:latin typeface="Arial Black"/>
              </a:rPr>
              <a:t>63.5%</a:t>
            </a:r>
          </a:p>
        </p:txBody>
      </p:sp>
      <p:sp>
        <p:nvSpPr>
          <p:cNvPr id="19" name="tb19"/>
          <p:cNvSpPr txBox="1"/>
          <p:nvPr/>
        </p:nvSpPr>
        <p:spPr>
          <a:xfrm>
            <a:off x="3527983" y="4800600"/>
            <a:ext cx="2320975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750" b="0" i="0" dirty="0">
                <a:solidFill>
                  <a:srgbClr val="6E8899"/>
                </a:solidFill>
                <a:latin typeface="Courier New"/>
              </a:rPr>
              <a:t>CLOSED “NOTED ONLY” vs A 30% BASELINE</a:t>
            </a:r>
          </a:p>
        </p:txBody>
      </p:sp>
      <p:sp>
        <p:nvSpPr>
          <p:cNvPr id="20" name="tb20"/>
          <p:cNvSpPr txBox="1"/>
          <p:nvPr/>
        </p:nvSpPr>
        <p:spPr>
          <a:xfrm>
            <a:off x="3527983" y="5230368"/>
            <a:ext cx="2320975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800" b="0" i="0" dirty="0">
                <a:solidFill>
                  <a:srgbClr val="6E8899"/>
                </a:solidFill>
                <a:latin typeface="Courier New"/>
              </a:rPr>
              <a:t>7.0% of volume</a:t>
            </a:r>
          </a:p>
        </p:txBody>
      </p:sp>
      <p:sp>
        <p:nvSpPr>
          <p:cNvPr id="21" name="r21"/>
          <p:cNvSpPr/>
          <p:nvPr/>
        </p:nvSpPr>
        <p:spPr>
          <a:xfrm>
            <a:off x="6196430" y="2468880"/>
            <a:ext cx="2613583" cy="3017520"/>
          </a:xfrm>
          <a:prstGeom prst="rect">
            <a:avLst/>
          </a:prstGeom>
          <a:solidFill>
            <a:srgbClr val="0D2432"/>
          </a:solidFill>
          <a:ln w="12700">
            <a:solidFill>
              <a:srgbClr val="1B4056"/>
            </a:solidFill>
          </a:ln>
        </p:spPr>
        <p:txBody>
          <a:bodyPr/>
          <a:lstStyle/>
          <a:p/>
        </p:txBody>
      </p:sp>
      <p:sp>
        <p:nvSpPr>
          <p:cNvPr id="22" name="r22"/>
          <p:cNvSpPr/>
          <p:nvPr/>
        </p:nvSpPr>
        <p:spPr>
          <a:xfrm>
            <a:off x="6196430" y="2468880"/>
            <a:ext cx="2613583" cy="41148"/>
          </a:xfrm>
          <a:prstGeom prst="rect">
            <a:avLst/>
          </a:prstGeom>
          <a:solidFill>
            <a:srgbClr val="37A2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b23"/>
          <p:cNvSpPr txBox="1"/>
          <p:nvPr/>
        </p:nvSpPr>
        <p:spPr>
          <a:xfrm>
            <a:off x="6342734" y="2651760"/>
            <a:ext cx="2320975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500" b="1" i="0" dirty="0">
                <a:solidFill>
                  <a:srgbClr val="37A2F0"/>
                </a:solidFill>
                <a:latin typeface="Arial Black"/>
              </a:rPr>
              <a:t>P3 · ROUTINE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6342734" y="2999232"/>
            <a:ext cx="2320975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800" b="1" i="0" dirty="0">
                <a:solidFill>
                  <a:srgbClr val="EAF2F7"/>
                </a:solidFill>
                <a:latin typeface="Courier New"/>
              </a:rPr>
              <a:t>SYSTEM PROPOSES, HUMAN APPROVES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6342734" y="3429000"/>
            <a:ext cx="2320975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950" b="0" i="0" dirty="0">
                <a:solidFill>
                  <a:srgbClr val="A8BFCE"/>
                </a:solidFill>
                <a:latin typeface="Arial"/>
              </a:rPr>
              <a:t>Real, needs a decision — but repetitive enough to batch.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6342734" y="4343400"/>
            <a:ext cx="2320975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2200" b="1" i="0" dirty="0">
                <a:solidFill>
                  <a:srgbClr val="37A2F0"/>
                </a:solidFill>
                <a:latin typeface="Arial Black"/>
              </a:rPr>
              <a:t>74.6%</a:t>
            </a:r>
          </a:p>
        </p:txBody>
      </p:sp>
      <p:sp>
        <p:nvSpPr>
          <p:cNvPr id="27" name="tb27"/>
          <p:cNvSpPr txBox="1"/>
          <p:nvPr/>
        </p:nvSpPr>
        <p:spPr>
          <a:xfrm>
            <a:off x="6342734" y="4800600"/>
            <a:ext cx="2320975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750" b="0" i="0" dirty="0">
                <a:solidFill>
                  <a:srgbClr val="6E8899"/>
                </a:solidFill>
                <a:latin typeface="Courier New"/>
              </a:rPr>
              <a:t>OF THE WHOLE QUEUE · PARKING IS 60,641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6342734" y="5230368"/>
            <a:ext cx="2320975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800" b="0" i="0" dirty="0">
                <a:solidFill>
                  <a:srgbClr val="6E8899"/>
                </a:solidFill>
                <a:latin typeface="Courier New"/>
              </a:rPr>
              <a:t>32.4% still open</a:t>
            </a:r>
          </a:p>
        </p:txBody>
      </p:sp>
      <p:sp>
        <p:nvSpPr>
          <p:cNvPr id="29" name="r29"/>
          <p:cNvSpPr/>
          <p:nvPr/>
        </p:nvSpPr>
        <p:spPr>
          <a:xfrm>
            <a:off x="9011181" y="2468880"/>
            <a:ext cx="2613583" cy="3017520"/>
          </a:xfrm>
          <a:prstGeom prst="rect">
            <a:avLst/>
          </a:prstGeom>
          <a:solidFill>
            <a:srgbClr val="0D2432"/>
          </a:solidFill>
          <a:ln w="12700">
            <a:solidFill>
              <a:srgbClr val="1B4056"/>
            </a:solidFill>
          </a:ln>
        </p:spPr>
        <p:txBody>
          <a:bodyPr/>
          <a:lstStyle/>
          <a:p/>
        </p:txBody>
      </p:sp>
      <p:sp>
        <p:nvSpPr>
          <p:cNvPr id="30" name="r30"/>
          <p:cNvSpPr/>
          <p:nvPr/>
        </p:nvSpPr>
        <p:spPr>
          <a:xfrm>
            <a:off x="9011181" y="2468880"/>
            <a:ext cx="2613583" cy="41148"/>
          </a:xfrm>
          <a:prstGeom prst="rect">
            <a:avLst/>
          </a:prstGeom>
          <a:solidFill>
            <a:srgbClr val="6E8899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b31"/>
          <p:cNvSpPr txBox="1"/>
          <p:nvPr/>
        </p:nvSpPr>
        <p:spPr>
          <a:xfrm>
            <a:off x="9157485" y="2651760"/>
            <a:ext cx="2320975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500" b="1" i="0" dirty="0">
                <a:solidFill>
                  <a:srgbClr val="6E8899"/>
                </a:solidFill>
                <a:latin typeface="Arial Black"/>
              </a:rPr>
              <a:t>P4 · ADMIN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9157485" y="2999232"/>
            <a:ext cx="2320975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800" b="1" i="0" dirty="0">
                <a:solidFill>
                  <a:srgbClr val="EAF2F7"/>
                </a:solidFill>
                <a:latin typeface="Courier New"/>
              </a:rPr>
              <a:t>FULLY AUTOMATED, NO HUMAN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9157485" y="3429000"/>
            <a:ext cx="2320975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950" b="0" i="0" dirty="0">
                <a:solidFill>
                  <a:srgbClr val="A8BFCE"/>
                </a:solidFill>
                <a:latin typeface="Arial"/>
              </a:rPr>
              <a:t>Zero judgment. You either qualify for a bin or you don't.</a:t>
            </a:r>
          </a:p>
        </p:txBody>
      </p:sp>
      <p:sp>
        <p:nvSpPr>
          <p:cNvPr id="34" name="tb34"/>
          <p:cNvSpPr txBox="1"/>
          <p:nvPr/>
        </p:nvSpPr>
        <p:spPr>
          <a:xfrm>
            <a:off x="9157485" y="4343400"/>
            <a:ext cx="2320975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2200" b="1" i="0" dirty="0">
                <a:solidFill>
                  <a:srgbClr val="6E8899"/>
                </a:solidFill>
                <a:latin typeface="Arial Black"/>
              </a:rPr>
              <a:t>10.5d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9157485" y="4800600"/>
            <a:ext cx="2320975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750" b="0" i="0" dirty="0">
                <a:solidFill>
                  <a:srgbClr val="6E8899"/>
                </a:solidFill>
                <a:latin typeface="Courier New"/>
              </a:rPr>
              <a:t>MEDIAN FOR A BIN · 0.1% OPEN, 38.5% LATE</a:t>
            </a:r>
          </a:p>
        </p:txBody>
      </p:sp>
      <p:sp>
        <p:nvSpPr>
          <p:cNvPr id="36" name="tb36"/>
          <p:cNvSpPr txBox="1"/>
          <p:nvPr/>
        </p:nvSpPr>
        <p:spPr>
          <a:xfrm>
            <a:off x="9157485" y="5230368"/>
            <a:ext cx="2320975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800" b="0" i="0" dirty="0">
                <a:solidFill>
                  <a:srgbClr val="6E8899"/>
                </a:solidFill>
                <a:latin typeface="Courier New"/>
              </a:rPr>
              <a:t>4.2% of volume</a:t>
            </a:r>
          </a:p>
        </p:txBody>
      </p:sp>
      <p:sp>
        <p:nvSpPr>
          <p:cNvPr id="37" name="tb37"/>
          <p:cNvSpPr txBox="1"/>
          <p:nvPr/>
        </p:nvSpPr>
        <p:spPr>
          <a:xfrm>
            <a:off x="566928" y="5669280"/>
            <a:ext cx="1051560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900" b="0" i="0" dirty="0">
                <a:solidFill>
                  <a:srgbClr val="6E8899"/>
                </a:solidFill>
                <a:latin typeface="Courier New"/>
              </a:rPr>
              <a:t>These assignments are ours, not the city's — the schema carries no severity field, and that absence is the finding. Encampments in particular sits awkwardly in P2.</a:t>
            </a:r>
          </a:p>
        </p:txBody>
      </p:sp>
      <p:sp>
        <p:nvSpPr>
          <p:cNvPr id="38" name="tb38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900" b="0" i="0" dirty="0">
                <a:solidFill>
                  <a:srgbClr val="6E8899"/>
                </a:solidFill>
                <a:latin typeface="Courier New"/>
              </a:rPr>
              <a:t>08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000" b="1" i="0" dirty="0">
                <a:solidFill>
                  <a:srgbClr val="37A2F0"/>
                </a:solidFill>
                <a:latin typeface="Courier New"/>
              </a:rPr>
              <a:t>THE MAP IS THE ARGUMENT</a:t>
            </a:r>
          </a:p>
        </p:txBody>
      </p:sp>
      <p:sp>
        <p:nvSpPr>
          <p:cNvPr id="3" name="tb3"/>
          <p:cNvSpPr txBox="1"/>
          <p:nvPr/>
        </p:nvSpPr>
        <p:spPr>
          <a:xfrm>
            <a:off x="566928" y="868680"/>
            <a:ext cx="11057839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95000"/>
              </a:lnSpc>
            </a:pPr>
            <a:r>
              <a:rPr lang="en-US" sz="2500" b="1" i="0" dirty="0">
                <a:solidFill>
                  <a:srgbClr val="EAF2F7"/>
                </a:solidFill>
                <a:latin typeface="Arial Black"/>
              </a:rPr>
              <a:t>YOU SEE WHAT'S BEING IGNORED </a:t>
            </a:r>
            <a:r>
              <a:rPr lang="en-US" sz="2500" b="1" i="0" dirty="0">
                <a:solidFill>
                  <a:srgbClr val="37A2F0"/>
                </a:solidFill>
                <a:latin typeface="Arial Black"/>
              </a:rPr>
              <a:t>BEFORE YOU READ A WORD</a:t>
            </a:r>
          </a:p>
        </p:txBody>
      </p:sp>
      <p:sp>
        <p:nvSpPr>
          <p:cNvPr id="4" name="tb4"/>
          <p:cNvSpPr txBox="1"/>
          <p:nvPr/>
        </p:nvSpPr>
        <p:spPr>
          <a:xfrm>
            <a:off x="566928" y="2468880"/>
            <a:ext cx="5486400" cy="2926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250" b="0" i="0" dirty="0">
                <a:solidFill>
                  <a:srgbClr val="A8BFCE"/>
                </a:solidFill>
                <a:latin typeface="Arial"/>
              </a:rPr>
              <a:t>Pin height is priority. The skyline shows you the backlog.</a:t>
            </a:r>
          </a:p>
          <a:p>
            <a:endParaRPr lang="en-US" sz="800"/>
          </a:p>
          <a:p>
            <a:pPr>
              <a:lnSpc>
                <a:spcPct val="125000"/>
              </a:lnSpc>
            </a:pPr>
            <a:r>
              <a:rPr lang="en-US" sz="1250" b="0" i="0" dirty="0">
                <a:solidFill>
                  <a:srgbClr val="A8BFCE"/>
                </a:solidFill>
                <a:latin typeface="Arial"/>
              </a:rPr>
              <a:t>Ground ring is how many neighbours reported the same thing.</a:t>
            </a:r>
          </a:p>
          <a:p>
            <a:endParaRPr lang="en-US" sz="800"/>
          </a:p>
          <a:p>
            <a:pPr>
              <a:lnSpc>
                <a:spcPct val="125000"/>
              </a:lnSpc>
            </a:pPr>
            <a:r>
              <a:rPr lang="en-US" sz="1250" b="0" i="0" dirty="0">
                <a:solidFill>
                  <a:srgbClr val="A8BFCE"/>
                </a:solidFill>
                <a:latin typeface="Arial"/>
              </a:rPr>
              <a:t>Colour is what kind of problem — six categories, not 155 city codes.</a:t>
            </a:r>
          </a:p>
          <a:p>
            <a:endParaRPr lang="en-US" sz="800"/>
          </a:p>
          <a:p>
            <a:pPr>
              <a:lnSpc>
                <a:spcPct val="125000"/>
              </a:lnSpc>
            </a:pPr>
            <a:r>
              <a:rPr lang="en-US" sz="1250" b="0" i="0" dirty="0">
                <a:solidFill>
                  <a:srgbClr val="A8BFCE"/>
                </a:solidFill>
                <a:latin typeface="Arial"/>
              </a:rPr>
              <a:t>Click any pin and it opens the answer for that street.</a:t>
            </a:r>
          </a:p>
        </p:txBody>
      </p:sp>
      <p:sp>
        <p:nvSpPr>
          <p:cNvPr id="5" name="r5"/>
          <p:cNvSpPr/>
          <p:nvPr/>
        </p:nvSpPr>
        <p:spPr>
          <a:xfrm>
            <a:off x="6510528" y="2523744"/>
            <a:ext cx="118872" cy="118872"/>
          </a:xfrm>
          <a:prstGeom prst="rect">
            <a:avLst/>
          </a:prstGeom>
          <a:solidFill>
            <a:srgbClr val="E0574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b6"/>
          <p:cNvSpPr txBox="1"/>
          <p:nvPr/>
        </p:nvSpPr>
        <p:spPr>
          <a:xfrm>
            <a:off x="6766560" y="2468880"/>
            <a:ext cx="4114800" cy="292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200" b="0" i="0" dirty="0">
                <a:solidFill>
                  <a:srgbClr val="A8BFCE"/>
                </a:solidFill>
                <a:latin typeface="Arial"/>
              </a:rPr>
              <a:t>Pests &amp; rodents</a:t>
            </a:r>
          </a:p>
        </p:txBody>
      </p:sp>
      <p:sp>
        <p:nvSpPr>
          <p:cNvPr id="7" name="r7"/>
          <p:cNvSpPr/>
          <p:nvPr/>
        </p:nvSpPr>
        <p:spPr>
          <a:xfrm>
            <a:off x="6510528" y="2907792"/>
            <a:ext cx="118872" cy="118872"/>
          </a:xfrm>
          <a:prstGeom prst="rect">
            <a:avLst/>
          </a:prstGeom>
          <a:solidFill>
            <a:srgbClr val="4B8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6766560" y="2852928"/>
            <a:ext cx="4114800" cy="292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200" b="0" i="0" dirty="0">
                <a:solidFill>
                  <a:srgbClr val="A8BFCE"/>
                </a:solidFill>
                <a:latin typeface="Arial"/>
              </a:rPr>
              <a:t>Streets &amp; sidewalks</a:t>
            </a:r>
          </a:p>
        </p:txBody>
      </p:sp>
      <p:sp>
        <p:nvSpPr>
          <p:cNvPr id="9" name="r9"/>
          <p:cNvSpPr/>
          <p:nvPr/>
        </p:nvSpPr>
        <p:spPr>
          <a:xfrm>
            <a:off x="6510528" y="3291840"/>
            <a:ext cx="118872" cy="118872"/>
          </a:xfrm>
          <a:prstGeom prst="rect">
            <a:avLst/>
          </a:prstGeom>
          <a:solidFill>
            <a:srgbClr val="4FA8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b10"/>
          <p:cNvSpPr txBox="1"/>
          <p:nvPr/>
        </p:nvSpPr>
        <p:spPr>
          <a:xfrm>
            <a:off x="6766560" y="3236976"/>
            <a:ext cx="4114800" cy="292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200" b="0" i="0" dirty="0">
                <a:solidFill>
                  <a:srgbClr val="A8BFCE"/>
                </a:solidFill>
                <a:latin typeface="Arial"/>
              </a:rPr>
              <a:t>Trash &amp; dumping</a:t>
            </a:r>
          </a:p>
        </p:txBody>
      </p:sp>
      <p:sp>
        <p:nvSpPr>
          <p:cNvPr id="11" name="r11"/>
          <p:cNvSpPr/>
          <p:nvPr/>
        </p:nvSpPr>
        <p:spPr>
          <a:xfrm>
            <a:off x="6510528" y="3675888"/>
            <a:ext cx="118872" cy="118872"/>
          </a:xfrm>
          <a:prstGeom prst="rect">
            <a:avLst/>
          </a:prstGeom>
          <a:solidFill>
            <a:srgbClr val="B76BD9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b12"/>
          <p:cNvSpPr txBox="1"/>
          <p:nvPr/>
        </p:nvSpPr>
        <p:spPr>
          <a:xfrm>
            <a:off x="6766560" y="3621024"/>
            <a:ext cx="4114800" cy="292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200" b="0" i="0" dirty="0">
                <a:solidFill>
                  <a:srgbClr val="A8BFCE"/>
                </a:solidFill>
                <a:latin typeface="Arial"/>
              </a:rPr>
              <a:t>Lights &amp; signals</a:t>
            </a:r>
          </a:p>
        </p:txBody>
      </p:sp>
      <p:sp>
        <p:nvSpPr>
          <p:cNvPr id="13" name="r13"/>
          <p:cNvSpPr/>
          <p:nvPr/>
        </p:nvSpPr>
        <p:spPr>
          <a:xfrm>
            <a:off x="6510528" y="4059936"/>
            <a:ext cx="118872" cy="118872"/>
          </a:xfrm>
          <a:prstGeom prst="rect">
            <a:avLst/>
          </a:prstGeom>
          <a:solidFill>
            <a:srgbClr val="C1811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b14"/>
          <p:cNvSpPr txBox="1"/>
          <p:nvPr/>
        </p:nvSpPr>
        <p:spPr>
          <a:xfrm>
            <a:off x="6766560" y="4005072"/>
            <a:ext cx="4114800" cy="292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200" b="0" i="0" dirty="0">
                <a:solidFill>
                  <a:srgbClr val="A8BFCE"/>
                </a:solidFill>
                <a:latin typeface="Arial"/>
              </a:rPr>
              <a:t>Housing conditions</a:t>
            </a:r>
          </a:p>
        </p:txBody>
      </p:sp>
      <p:sp>
        <p:nvSpPr>
          <p:cNvPr id="15" name="r15"/>
          <p:cNvSpPr/>
          <p:nvPr/>
        </p:nvSpPr>
        <p:spPr>
          <a:xfrm>
            <a:off x="6510528" y="4443984"/>
            <a:ext cx="118872" cy="118872"/>
          </a:xfrm>
          <a:prstGeom prst="rect">
            <a:avLst/>
          </a:prstGeom>
          <a:solidFill>
            <a:srgbClr val="E85A9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b16"/>
          <p:cNvSpPr txBox="1"/>
          <p:nvPr/>
        </p:nvSpPr>
        <p:spPr>
          <a:xfrm>
            <a:off x="6766560" y="4389120"/>
            <a:ext cx="4114800" cy="292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200" b="0" i="0" dirty="0">
                <a:solidFill>
                  <a:srgbClr val="A8BFCE"/>
                </a:solidFill>
                <a:latin typeface="Arial"/>
              </a:rPr>
              <a:t>Vehicles &amp; parking</a:t>
            </a:r>
          </a:p>
        </p:txBody>
      </p:sp>
      <p:sp>
        <p:nvSpPr>
          <p:cNvPr id="17" name="tb17"/>
          <p:cNvSpPr txBox="1"/>
          <p:nvPr/>
        </p:nvSpPr>
        <p:spPr>
          <a:xfrm>
            <a:off x="6510528" y="4937760"/>
            <a:ext cx="475488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050" b="0" i="0" dirty="0">
                <a:solidFill>
                  <a:srgbClr val="6E8899"/>
                </a:solidFill>
                <a:latin typeface="Courier New"/>
              </a:rPr>
              <a:t>Three.js, extruded from the city's own neighbourhood GeoJSON. No tile server, no map vendor, no network.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900" b="0" i="0" dirty="0">
                <a:solidFill>
                  <a:srgbClr val="6E8899"/>
                </a:solidFill>
                <a:latin typeface="Courier New"/>
              </a:rPr>
              <a:t>09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000" b="1" i="0" dirty="0">
                <a:solidFill>
                  <a:srgbClr val="37A2F0"/>
                </a:solidFill>
                <a:latin typeface="Courier New"/>
              </a:rPr>
              <a:t>WHAT IT COSTS TO RUN</a:t>
            </a:r>
          </a:p>
        </p:txBody>
      </p:sp>
      <p:sp>
        <p:nvSpPr>
          <p:cNvPr id="3" name="tb3"/>
          <p:cNvSpPr txBox="1"/>
          <p:nvPr/>
        </p:nvSpPr>
        <p:spPr>
          <a:xfrm>
            <a:off x="566928" y="868680"/>
            <a:ext cx="11057839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95000"/>
              </a:lnSpc>
            </a:pPr>
            <a:r>
              <a:rPr lang="en-US" sz="3200" b="1" i="0" dirty="0">
                <a:solidFill>
                  <a:srgbClr val="EAF2F7"/>
                </a:solidFill>
                <a:latin typeface="Arial Black"/>
              </a:rPr>
              <a:t>ONE HTML FILE. </a:t>
            </a:r>
            <a:r>
              <a:rPr lang="en-US" sz="3200" b="1" i="0" dirty="0">
                <a:solidFill>
                  <a:srgbClr val="E0574A"/>
                </a:solidFill>
                <a:latin typeface="Arial Black"/>
              </a:rPr>
              <a:t>NOTHING ELSE.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566928" y="2468880"/>
            <a:ext cx="65836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050" b="1" i="0" dirty="0">
                <a:solidFill>
                  <a:srgbClr val="37A2F0"/>
                </a:solidFill>
                <a:latin typeface="Courier New"/>
              </a:rPr>
              <a:t>Data       </a:t>
            </a:r>
            <a:r>
              <a:rPr lang="en-US" sz="1050" b="0" i="0" dirty="0">
                <a:solidFill>
                  <a:srgbClr val="A8BFCE"/>
                </a:solidFill>
                <a:latin typeface="Courier New"/>
              </a:rPr>
              <a:t>8,898 cards from 267,187 rows, 58 streets of parcel facts, 26 polygons</a:t>
            </a:r>
          </a:p>
        </p:txBody>
      </p:sp>
      <p:sp>
        <p:nvSpPr>
          <p:cNvPr id="5" name="tb5"/>
          <p:cNvSpPr txBox="1"/>
          <p:nvPr/>
        </p:nvSpPr>
        <p:spPr>
          <a:xfrm>
            <a:off x="566928" y="2880360"/>
            <a:ext cx="65836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050" b="1" i="0" dirty="0">
                <a:solidFill>
                  <a:srgbClr val="37A2F0"/>
                </a:solidFill>
                <a:latin typeface="Courier New"/>
              </a:rPr>
              <a:t>Retrieval  </a:t>
            </a:r>
            <a:r>
              <a:rPr lang="en-US" sz="1050" b="0" i="0" dirty="0">
                <a:solidFill>
                  <a:srgbClr val="A8BFCE"/>
                </a:solidFill>
                <a:latin typeface="Courier New"/>
              </a:rPr>
              <a:t>Plain JavaScript. Filters, two stages, gate, floor</a:t>
            </a:r>
          </a:p>
        </p:txBody>
      </p:sp>
      <p:sp>
        <p:nvSpPr>
          <p:cNvPr id="6" name="tb6"/>
          <p:cNvSpPr txBox="1"/>
          <p:nvPr/>
        </p:nvSpPr>
        <p:spPr>
          <a:xfrm>
            <a:off x="566928" y="3291840"/>
            <a:ext cx="65836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050" b="1" i="0" dirty="0">
                <a:solidFill>
                  <a:srgbClr val="37A2F0"/>
                </a:solidFill>
                <a:latin typeface="Courier New"/>
              </a:rPr>
              <a:t>Answer     </a:t>
            </a:r>
            <a:r>
              <a:rPr lang="en-US" sz="1050" b="0" i="0" dirty="0">
                <a:solidFill>
                  <a:srgbClr val="A8BFCE"/>
                </a:solidFill>
                <a:latin typeface="Courier New"/>
              </a:rPr>
              <a:t>Assembled from counted fields, never generated</a:t>
            </a:r>
          </a:p>
        </p:txBody>
      </p:sp>
      <p:sp>
        <p:nvSpPr>
          <p:cNvPr id="7" name="tb7"/>
          <p:cNvSpPr txBox="1"/>
          <p:nvPr/>
        </p:nvSpPr>
        <p:spPr>
          <a:xfrm>
            <a:off x="566928" y="3703320"/>
            <a:ext cx="65836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050" b="1" i="0" dirty="0">
                <a:solidFill>
                  <a:srgbClr val="37A2F0"/>
                </a:solidFill>
                <a:latin typeface="Courier New"/>
              </a:rPr>
              <a:t>Map        </a:t>
            </a:r>
            <a:r>
              <a:rPr lang="en-US" sz="1050" b="0" i="0" dirty="0">
                <a:solidFill>
                  <a:srgbClr val="A8BFCE"/>
                </a:solidFill>
                <a:latin typeface="Courier New"/>
              </a:rPr>
              <a:t>Three.js from city GeoJSON — no tile server</a:t>
            </a:r>
          </a:p>
        </p:txBody>
      </p:sp>
      <p:sp>
        <p:nvSpPr>
          <p:cNvPr id="8" name="tb8"/>
          <p:cNvSpPr txBox="1"/>
          <p:nvPr/>
        </p:nvSpPr>
        <p:spPr>
          <a:xfrm>
            <a:off x="566928" y="4114800"/>
            <a:ext cx="65836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050" b="1" i="0" dirty="0">
                <a:solidFill>
                  <a:srgbClr val="37A2F0"/>
                </a:solidFill>
                <a:latin typeface="Courier New"/>
              </a:rPr>
              <a:t>State      </a:t>
            </a:r>
            <a:r>
              <a:rPr lang="en-US" sz="1050" b="0" i="0" dirty="0">
                <a:solidFill>
                  <a:srgbClr val="A8BFCE"/>
                </a:solidFill>
                <a:latin typeface="Courier New"/>
              </a:rPr>
              <a:t>localStorage — votes, reports, points</a:t>
            </a:r>
          </a:p>
        </p:txBody>
      </p:sp>
      <p:sp>
        <p:nvSpPr>
          <p:cNvPr id="9" name="tb9"/>
          <p:cNvSpPr txBox="1"/>
          <p:nvPr/>
        </p:nvSpPr>
        <p:spPr>
          <a:xfrm>
            <a:off x="566928" y="4526280"/>
            <a:ext cx="65836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050" b="1" i="0" dirty="0">
                <a:solidFill>
                  <a:srgbClr val="37A2F0"/>
                </a:solidFill>
                <a:latin typeface="Courier New"/>
              </a:rPr>
              <a:t>LLM        </a:t>
            </a:r>
            <a:r>
              <a:rPr lang="en-US" sz="1050" b="0" i="0" dirty="0">
                <a:solidFill>
                  <a:srgbClr val="A8BFCE"/>
                </a:solidFill>
                <a:latin typeface="Courier New"/>
              </a:rPr>
              <a:t>Granite 3.1 8B on local Ollama, optional, keyword fallback</a:t>
            </a:r>
          </a:p>
        </p:txBody>
      </p:sp>
      <p:sp>
        <p:nvSpPr>
          <p:cNvPr id="10" name="tb10"/>
          <p:cNvSpPr txBox="1"/>
          <p:nvPr/>
        </p:nvSpPr>
        <p:spPr>
          <a:xfrm>
            <a:off x="7516368" y="2377440"/>
            <a:ext cx="4023360" cy="32918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300" b="0" i="0" dirty="0">
                <a:solidFill>
                  <a:srgbClr val="EAF2F7"/>
                </a:solidFill>
                <a:latin typeface="Arial"/>
              </a:rPr>
              <a:t>The build step is offline: a Python script rolls 267,000 coded rows into readable cards in about four seconds, with zero model calls.</a:t>
            </a:r>
          </a:p>
          <a:p>
            <a:endParaRPr lang="en-US" sz="800"/>
          </a:p>
          <a:p>
            <a:pPr>
              <a:lnSpc>
                <a:spcPct val="125000"/>
              </a:lnSpc>
            </a:pPr>
            <a:r>
              <a:rPr lang="en-US" sz="1050" b="0" i="0" dirty="0">
                <a:solidFill>
                  <a:srgbClr val="6E8899"/>
                </a:solidFill>
                <a:latin typeface="Courier New"/>
              </a:rPr>
              <a:t>No server. No API keys. No per-query cost. On dead conference wifi, on a bus, in a basement apartment — it still answers.</a:t>
            </a:r>
          </a:p>
          <a:p>
            <a:endParaRPr lang="en-US" sz="800"/>
          </a:p>
          <a:p>
            <a:pPr>
              <a:lnSpc>
                <a:spcPct val="125000"/>
              </a:lnSpc>
            </a:pPr>
            <a:r>
              <a:rPr lang="en-US" sz="1700" b="1" i="0" dirty="0">
                <a:solidFill>
                  <a:srgbClr val="37A2F0"/>
                </a:solidFill>
                <a:latin typeface="Arial Black"/>
              </a:rPr>
              <a:t>SERVING COST: A STATIC FILE.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900" b="0" i="0" dirty="0">
                <a:solidFill>
                  <a:srgbClr val="6E8899"/>
                </a:solidFill>
                <a:latin typeface="Courier New"/>
              </a:rPr>
              <a:t>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000" b="1" i="0" dirty="0">
                <a:solidFill>
                  <a:srgbClr val="37A2F0"/>
                </a:solidFill>
                <a:latin typeface="Courier New"/>
              </a:rPr>
              <a:t>THE HONEST LIMITS</a:t>
            </a:r>
          </a:p>
        </p:txBody>
      </p:sp>
      <p:sp>
        <p:nvSpPr>
          <p:cNvPr id="3" name="tb3"/>
          <p:cNvSpPr txBox="1"/>
          <p:nvPr/>
        </p:nvSpPr>
        <p:spPr>
          <a:xfrm>
            <a:off x="566928" y="1371600"/>
            <a:ext cx="5669280" cy="4206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150" b="0" i="0" dirty="0">
                <a:solidFill>
                  <a:srgbClr val="A8BFCE"/>
                </a:solidFill>
                <a:latin typeface="Arial"/>
              </a:rPr>
              <a:t>The local model is optional. Granite classifies free-text reports when reachable; otherwise a keyword router takes over and the interface says which decided.</a:t>
            </a:r>
          </a:p>
          <a:p>
            <a:endParaRPr lang="en-US" sz="800"/>
          </a:p>
          <a:p>
            <a:pPr>
              <a:lnSpc>
                <a:spcPct val="125000"/>
              </a:lnSpc>
            </a:pPr>
            <a:r>
              <a:rPr lang="en-US" sz="1150" b="0" i="0" dirty="0">
                <a:solidFill>
                  <a:srgbClr val="A8BFCE"/>
                </a:solidFill>
                <a:latin typeface="Arial"/>
              </a:rPr>
              <a:t>Property Assessment covers 58 streets, not all of Boston — the city's API caps at 32,000 rows.</a:t>
            </a:r>
          </a:p>
          <a:p>
            <a:endParaRPr lang="en-US" sz="800"/>
          </a:p>
          <a:p>
            <a:pPr>
              <a:lnSpc>
                <a:spcPct val="125000"/>
              </a:lnSpc>
            </a:pPr>
            <a:r>
              <a:rPr lang="en-US" sz="1150" b="0" i="0" dirty="0">
                <a:solidFill>
                  <a:srgbClr val="A8BFCE"/>
                </a:solidFill>
                <a:latin typeface="Arial"/>
              </a:rPr>
              <a:t>Approximate street matches say so, rather than passing another street's numbers off as yours.</a:t>
            </a:r>
          </a:p>
          <a:p>
            <a:endParaRPr lang="en-US" sz="800"/>
          </a:p>
          <a:p>
            <a:pPr>
              <a:lnSpc>
                <a:spcPct val="125000"/>
              </a:lnSpc>
            </a:pPr>
            <a:r>
              <a:rPr lang="en-US" sz="1150" b="0" i="0" dirty="0">
                <a:solidFill>
                  <a:srgbClr val="A8BFCE"/>
                </a:solidFill>
                <a:latin typeface="Arial"/>
              </a:rPr>
              <a:t>Reports stay on the device. A community signal, not a filing — real reports still go to 311.</a:t>
            </a:r>
          </a:p>
        </p:txBody>
      </p:sp>
      <p:sp>
        <p:nvSpPr>
          <p:cNvPr id="90" name="tb90"/>
          <p:cNvSpPr txBox="1"/>
          <p:nvPr/>
        </p:nvSpPr>
        <p:spPr>
          <a:xfrm>
            <a:off x="6876288" y="2103120"/>
            <a:ext cx="466344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b="1" i="0" dirty="0">
                <a:solidFill>
                  <a:srgbClr val="EAF2F7"/>
                </a:solidFill>
                <a:latin typeface="Arial Black"/>
              </a:rPr>
              <a:t>Stop shouting into a void.</a:t>
            </a:r>
          </a:p>
          <a:p>
            <a:pPr>
              <a:lnSpc>
                <a:spcPct val="100000"/>
              </a:lnSpc>
            </a:pPr>
            <a:r>
              <a:rPr lang="en-US" sz="2800" b="1" i="0" dirty="0">
                <a:solidFill>
                  <a:srgbClr val="EAF2F7"/>
                </a:solidFill>
                <a:latin typeface="Arial Black"/>
              </a:rPr>
              <a:t>Start being someone </a:t>
            </a:r>
            <a:r>
              <a:rPr lang="en-US" sz="2800" b="1" i="0" dirty="0">
                <a:solidFill>
                  <a:srgbClr val="37A2F0"/>
                </a:solidFill>
                <a:latin typeface="Arial Black"/>
              </a:rPr>
              <a:t>with a case.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6876288" y="4663440"/>
            <a:ext cx="46634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050" b="0" i="0" dirty="0">
                <a:solidFill>
                  <a:srgbClr val="6E8899"/>
                </a:solidFill>
                <a:latin typeface="Courier New"/>
              </a:rPr>
              <a:t>Street Signal · built on Analyze Boston open data</a:t>
            </a:r>
          </a:p>
        </p:txBody>
      </p:sp>
      <p:sp>
        <p:nvSpPr>
          <p:cNvPr id="5" name="tb5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900" b="0" i="0" dirty="0">
                <a:solidFill>
                  <a:srgbClr val="6E8899"/>
                </a:solidFill>
                <a:latin typeface="Courier New"/>
              </a:rPr>
              <a:t>11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treetSignal">
  <a:themeElements>
    <a:clrScheme name="StreetSignal">
      <a:dk1>
        <a:srgbClr val="000000"/>
      </a:dk1>
      <a:lt1>
        <a:srgbClr val="FFFFFF"/>
      </a:lt1>
      <a:dk2>
        <a:srgbClr val="071620"/>
      </a:dk2>
      <a:lt2>
        <a:srgbClr val="EAF2F7"/>
      </a:lt2>
      <a:accent1>
        <a:srgbClr val="37A2F0"/>
      </a:accent1>
      <a:accent2>
        <a:srgbClr val="E0574A"/>
      </a:accent2>
      <a:accent3>
        <a:srgbClr val="C1811F"/>
      </a:accent3>
      <a:accent4>
        <a:srgbClr val="4FA85C"/>
      </a:accent4>
      <a:accent5>
        <a:srgbClr val="B76BD9"/>
      </a:accent5>
      <a:accent6>
        <a:srgbClr val="E85A93"/>
      </a:accent6>
      <a:hlink>
        <a:srgbClr val="37A2F0"/>
      </a:hlink>
      <a:folHlink>
        <a:srgbClr val="6E8899"/>
      </a:folHlink>
    </a:clrScheme>
    <a:fontScheme name="StreetSign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StreetSign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